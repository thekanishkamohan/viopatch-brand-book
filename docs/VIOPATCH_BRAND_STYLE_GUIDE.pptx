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fonts/font1.odttf" ContentType="application/x-fontdata"/>
  <Override PartName="/ppt/fonts/font2.odttf" ContentType="application/x-fontdata"/>
  <Override PartName="/ppt/fonts/font3.odttf" ContentType="application/x-fontdata"/>
  <Override PartName="/ppt/fonts/font4.odttf" ContentType="application/x-fontdata"/>
  <Override PartName="/ppt/fonts/font5.odttf" ContentType="application/x-fontdata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8" r:id="rId9"/>
    <p:sldId id="262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embeddedFontLst>
    <p:embeddedFont>
      <p:font typeface="Barlow Condensed" pitchFamily="34" charset="0"/>
      <p:bold r:id="rId20"/>
    </p:embeddedFont>
    <p:embeddedFont>
      <p:font typeface="Montserrat" pitchFamily="34" charset="0"/>
      <p:regular r:id="rId18"/>
      <p:bold r:id="rId19"/>
    </p:embeddedFont>
    <p:embeddedFont>
      <p:font typeface="Roboto" pitchFamily="34" charset="0"/>
      <p:regular r:id="rId21"/>
      <p:bold r:id="rId22"/>
    </p:embeddedFont>
  </p:embeddedFon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E036C8-C0E4-4EE4-37C5-A54CF1C13C48}" name="Kanishka Mohan" initials="KM" userId="4c70dc32dc7aab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1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
  <Relationship Id="rId18" Type="http://schemas.openxmlformats.org/officeDocument/2006/relationships/font" Target="fonts/font1.odttf"/>
  <Relationship Id="rId19" Type="http://schemas.openxmlformats.org/officeDocument/2006/relationships/font" Target="fonts/font2.odttf"/>
  <Relationship Id="rId20" Type="http://schemas.openxmlformats.org/officeDocument/2006/relationships/font" Target="fonts/font3.odttf"/>
  <Relationship Id="rId21" Type="http://schemas.openxmlformats.org/officeDocument/2006/relationships/font" Target="fonts/font4.odttf"/>
  <Relationship Id="rId22" Type="http://schemas.openxmlformats.org/officeDocument/2006/relationships/font" Target="fonts/font5.odttf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9508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0">
            <a:extLst>
              <a:ext uri="{FF2B5EF4-FFF2-40B4-BE49-F238E27FC236}">
                <a16:creationId xmlns:a16="http://schemas.microsoft.com/office/drawing/2014/main" id="{D359D626-FDC5-3A67-329E-DEF9067665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 dirty="0">
              <a:solidFill>
                <a:srgbClr val="64748B"/>
              </a:solidFill>
              <a:latin typeface="Montserrat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BF65FF2-E3A6-28C7-C63C-7856A1396803}"/>
              </a:ext>
            </a:extLst>
          </p:cNvPr>
          <p:cNvSpPr/>
          <p:nvPr userDrawn="1"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 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50863" y="3099816"/>
            <a:ext cx="11090275" cy="119786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07000"/>
              </a:lnSpc>
              <a:buNone/>
              <a:defRPr lang="en-US" sz="2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07000"/>
              </a:lnSpc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presentation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50863" y="4343400"/>
            <a:ext cx="11090275" cy="548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1800" dirty="0">
                <a:solidFill>
                  <a:srgbClr val="FDCD8B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rgbClr val="FDCD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subtitle or presenter name</a:t>
            </a:r>
            <a:endParaRPr lang="en-US" sz="2000" dirty="0"/>
          </a:p>
        </p:txBody>
      </p:sp>
      <p:sp>
        <p:nvSpPr>
          <p:cNvPr id="4" name="Pill_n_1"/>
          <p:cNvSpPr/>
          <p:nvPr/>
        </p:nvSpPr>
        <p:spPr>
          <a:xfrm>
            <a:off x="731520" y="5120640"/>
            <a:ext cx="914400" cy="82296"/>
          </a:xfrm>
          <a:prstGeom prst="roundRect">
            <a:avLst>
              <a:gd name="adj" fmla="val 50000"/>
            </a:avLst>
          </a:prstGeom>
          <a:solidFill>
            <a:srgbClr val="0054A6"/>
          </a:solidFill>
          <a:ln/>
        </p:spPr>
      </p:sp>
      <p:sp>
        <p:nvSpPr>
          <p:cNvPr id="6" name="Text 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xmlns:ns3="http://schemas.microsoft.com/office/drawing/2014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F2F2F7"/>
                </a:solidFill>
                <a:latin typeface="Montserrat"/>
              </a:rPr>
              <a:t>‹#›</a:t>
            </a:fld>
            <a:endParaRPr lang="en-US" sz="850" b="0">
              <a:solidFill>
                <a:srgbClr val="F2F2F7"/>
              </a:solidFill>
              <a:latin typeface="Montserrat"/>
            </a:endParaRPr>
          </a:p>
        </p:txBody>
      </p:sp>
      <p:pic>
        <p:nvPicPr>
          <p:cNvPr id="7" name="Picture 6" descr="master_logo_for_dark_bg_with_r.png">
            <a:extLst>
              <a:ext uri="{FF2B5EF4-FFF2-40B4-BE49-F238E27FC236}">
                <a16:creationId xmlns:a16="http://schemas.microsoft.com/office/drawing/2014/main" id="{0FD9F900-AD6F-A71B-CCF7-D790EC4CB5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6564" y="467998"/>
            <a:ext cx="4754574" cy="1258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2 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master_logo_for_dark_bg_with_r.png">
            <a:extLst>
              <a:ext uri="{FF2B5EF4-FFF2-40B4-BE49-F238E27FC236}">
                <a16:creationId xmlns:a16="http://schemas.microsoft.com/office/drawing/2014/main" id="{4FBA2DCB-FC9A-3C3B-36D8-85B6B1952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1600" y="355600"/>
            <a:ext cx="1199444" cy="317500"/>
          </a:xfrm>
          <a:prstGeom prst="rect">
            <a:avLst/>
          </a:prstGeom>
        </p:spPr>
      </p:pic>
      <p:sp>
        <p:nvSpPr>
          <p:cNvPr id="2" name="Pill_n_2"/>
          <p:cNvSpPr/>
          <p:nvPr/>
        </p:nvSpPr>
        <p:spPr>
          <a:xfrm>
            <a:off x="548640" y="3063240"/>
            <a:ext cx="548640" cy="82296"/>
          </a:xfrm>
          <a:prstGeom prst="roundRect">
            <a:avLst>
              <a:gd name="adj" fmla="val 50000"/>
            </a:avLst>
          </a:prstGeom>
          <a:solidFill>
            <a:srgbClr val="0054A6"/>
          </a:solidFill>
          <a:ln/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1400" dirty="0">
                <a:solidFill>
                  <a:srgbClr val="FDCD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FDCD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1188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section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5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F2F2F7"/>
                </a:solidFill>
                <a:latin typeface="Montserrat"/>
              </a:rPr>
              <a:t>‹#›</a:t>
            </a:fld>
            <a:endParaRPr lang="en-US" sz="850" b="0">
              <a:solidFill>
                <a:srgbClr val="F2F2F7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Image Left"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_14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67436" y="2011680"/>
            <a:ext cx="5180076" cy="9144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67436" y="3108960"/>
            <a:ext cx="5180076" cy="27432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30000"/>
              </a:lnSpc>
              <a:buNone/>
              <a:defRPr lang="en-US" sz="16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text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Slide Number Placeholder 0">
            <a:extLst>
              <a:ext uri="{FF2B5EF4-FFF2-40B4-BE49-F238E27FC236}">
                <a16:creationId xmlns:a16="http://schemas.microsoft.com/office/drawing/2014/main" id="{5D9BFDE5-EBDD-77C3-F1B8-B5B3D0201A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 dirty="0">
              <a:solidFill>
                <a:srgbClr val="64748B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92327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solidFill>
                  <a:srgbClr val="0054A6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0054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169164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agenda item</a:t>
            </a:r>
            <a:endParaRPr lang="en-US" sz="2000" dirty="0"/>
          </a:p>
        </p:txBody>
      </p:sp>
      <p:sp>
        <p:nvSpPr>
          <p:cNvPr id="5" name="Line_5"/>
          <p:cNvSpPr/>
          <p:nvPr/>
        </p:nvSpPr>
        <p:spPr>
          <a:xfrm>
            <a:off x="548640" y="2560320"/>
            <a:ext cx="11091672" cy="0"/>
          </a:xfrm>
          <a:prstGeom prst="line">
            <a:avLst/>
          </a:prstGeom>
          <a:noFill/>
          <a:ln w="9525">
            <a:solidFill>
              <a:srgbClr val="C6C6C8"/>
            </a:solidFill>
            <a:prstDash val="solid"/>
          </a:ln>
        </p:spPr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solidFill>
                  <a:srgbClr val="379131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3791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1463040" y="265176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agenda item</a:t>
            </a:r>
            <a:endParaRPr lang="en-US" sz="2000" dirty="0"/>
          </a:p>
        </p:txBody>
      </p:sp>
      <p:sp>
        <p:nvSpPr>
          <p:cNvPr id="8" name="Line_6"/>
          <p:cNvSpPr/>
          <p:nvPr/>
        </p:nvSpPr>
        <p:spPr>
          <a:xfrm>
            <a:off x="548640" y="3520440"/>
            <a:ext cx="11091672" cy="0"/>
          </a:xfrm>
          <a:prstGeom prst="line">
            <a:avLst/>
          </a:prstGeom>
          <a:noFill/>
          <a:ln w="9525">
            <a:solidFill>
              <a:srgbClr val="C6C6C8"/>
            </a:solidFill>
            <a:prstDash val="solid"/>
          </a:ln>
        </p:spPr>
      </p:sp>
      <p:sp>
        <p:nvSpPr>
          <p:cNvPr id="9" name="Text 2"/>
          <p:cNvSpPr>
            <a:spLocks noGrp="1"/>
          </p:cNvSpPr>
          <p:nvPr>
            <p:ph type="body" idx="107" hasCustomPrompt="1"/>
          </p:nvPr>
        </p:nvSpPr>
        <p:spPr>
          <a:xfrm>
            <a:off x="548640" y="3611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solidFill>
                  <a:srgbClr val="FF95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FF9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2"/>
          <p:cNvSpPr>
            <a:spLocks noGrp="1"/>
          </p:cNvSpPr>
          <p:nvPr>
            <p:ph type="body" idx="108" hasCustomPrompt="1"/>
          </p:nvPr>
        </p:nvSpPr>
        <p:spPr>
          <a:xfrm>
            <a:off x="1463040" y="361188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agenda item</a:t>
            </a:r>
            <a:endParaRPr lang="en-US" sz="2000" dirty="0"/>
          </a:p>
        </p:txBody>
      </p:sp>
      <p:sp>
        <p:nvSpPr>
          <p:cNvPr id="11" name="Line_7"/>
          <p:cNvSpPr/>
          <p:nvPr/>
        </p:nvSpPr>
        <p:spPr>
          <a:xfrm>
            <a:off x="548640" y="4480560"/>
            <a:ext cx="11091672" cy="0"/>
          </a:xfrm>
          <a:prstGeom prst="line">
            <a:avLst/>
          </a:prstGeom>
          <a:noFill/>
          <a:ln w="9525">
            <a:solidFill>
              <a:srgbClr val="C6C6C8"/>
            </a:solidFill>
            <a:prstDash val="solid"/>
          </a:ln>
        </p:spPr>
      </p:sp>
      <p:sp>
        <p:nvSpPr>
          <p:cNvPr id="12" name="Text 3"/>
          <p:cNvSpPr>
            <a:spLocks noGrp="1"/>
          </p:cNvSpPr>
          <p:nvPr>
            <p:ph type="body" idx="110" hasCustomPrompt="1"/>
          </p:nvPr>
        </p:nvSpPr>
        <p:spPr>
          <a:xfrm>
            <a:off x="5486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solidFill>
                  <a:srgbClr val="FF3B3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FF3B3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3"/>
          <p:cNvSpPr>
            <a:spLocks noGrp="1"/>
          </p:cNvSpPr>
          <p:nvPr>
            <p:ph type="body" idx="111" hasCustomPrompt="1"/>
          </p:nvPr>
        </p:nvSpPr>
        <p:spPr>
          <a:xfrm>
            <a:off x="1463040" y="457200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agenda item</a:t>
            </a:r>
            <a:endParaRPr lang="en-US" sz="2000" dirty="0"/>
          </a:p>
        </p:txBody>
      </p:sp>
      <p:sp>
        <p:nvSpPr>
          <p:cNvPr id="14" name="Text 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 dirty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Title +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548640" y="155448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 algn="l">
              <a:lnSpc>
                <a:spcPct val="130000"/>
              </a:lnSpc>
              <a:buSzPct val="100000"/>
              <a:buChar char="•"/>
              <a:defRPr lang="en-US" sz="1700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Master text styles</a:t>
            </a:r>
            <a:endParaRPr lang="en-US" sz="17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548640" y="1554480"/>
            <a:ext cx="5317236" cy="45720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 algn="l">
              <a:lnSpc>
                <a:spcPct val="130000"/>
              </a:lnSpc>
              <a:buSzPct val="100000"/>
              <a:buChar char="•"/>
              <a:defRPr lang="en-US" sz="1700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text</a:t>
            </a:r>
            <a:endParaRPr lang="en-US" sz="1700" dirty="0"/>
          </a:p>
        </p:txBody>
      </p:sp>
      <p:sp>
        <p:nvSpPr>
          <p:cNvPr id="4" name="Text 0"/>
          <p:cNvSpPr>
            <a:spLocks noGrp="1"/>
          </p:cNvSpPr>
          <p:nvPr>
            <p:ph idx="102" hasCustomPrompt="1"/>
          </p:nvPr>
        </p:nvSpPr>
        <p:spPr>
          <a:xfrm>
            <a:off x="6323076" y="1554480"/>
            <a:ext cx="5317236" cy="45720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 algn="l">
              <a:lnSpc>
                <a:spcPct val="130000"/>
              </a:lnSpc>
              <a:buSzPct val="100000"/>
              <a:buChar char="•"/>
              <a:defRPr lang="en-US" sz="1700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text</a:t>
            </a:r>
            <a:endParaRPr lang="en-US" sz="1700" dirty="0"/>
          </a:p>
        </p:txBody>
      </p:sp>
      <p:sp>
        <p:nvSpPr>
          <p:cNvPr id="5" name="Line_8"/>
          <p:cNvSpPr/>
          <p:nvPr/>
        </p:nvSpPr>
        <p:spPr>
          <a:xfrm>
            <a:off x="6094476" y="1554480"/>
            <a:ext cx="0" cy="4572000"/>
          </a:xfrm>
          <a:prstGeom prst="line">
            <a:avLst/>
          </a:prstGeom>
          <a:noFill/>
          <a:ln w="12700">
            <a:solidFill>
              <a:srgbClr val="C6C6C8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Card|4255|n_9"/>
          <p:cNvSpPr/>
          <p:nvPr/>
        </p:nvSpPr>
        <p:spPr>
          <a:xfrm>
            <a:off x="548640" y="1554480"/>
            <a:ext cx="5317236" cy="4297680"/>
          </a:xfrm>
          <a:prstGeom prst="roundRect">
            <a:avLst>
              <a:gd name="adj" fmla="val 4255"/>
            </a:avLst>
          </a:prstGeom>
          <a:solidFill>
            <a:srgbClr val="F2F2F7"/>
          </a:solidFill>
          <a:ln/>
          <a:effectLst/>
        </p:spPr>
      </p:sp>
      <p:sp>
        <p:nvSpPr>
          <p:cNvPr id="4" name="Card|4255|n_10"/>
          <p:cNvSpPr/>
          <p:nvPr/>
        </p:nvSpPr>
        <p:spPr>
          <a:xfrm>
            <a:off x="6323076" y="1554480"/>
            <a:ext cx="5317236" cy="4297680"/>
          </a:xfrm>
          <a:prstGeom prst="roundRect">
            <a:avLst>
              <a:gd name="adj" fmla="val 4255"/>
            </a:avLst>
          </a:prstGeom>
          <a:solidFill>
            <a:srgbClr val="F2F2F7"/>
          </a:solidFill>
          <a:ln/>
          <a:effectLst/>
        </p:spPr>
      </p:sp>
      <p:sp>
        <p:nvSpPr>
          <p:cNvPr id="5" name="Dot_n_11"/>
          <p:cNvSpPr/>
          <p:nvPr/>
        </p:nvSpPr>
        <p:spPr>
          <a:xfrm>
            <a:off x="822960" y="1828800"/>
            <a:ext cx="274320" cy="274320"/>
          </a:xfrm>
          <a:prstGeom prst="ellipse">
            <a:avLst/>
          </a:prstGeom>
          <a:solidFill>
            <a:srgbClr val="0054A6"/>
          </a:solidFill>
          <a:ln/>
        </p:spPr>
      </p:sp>
      <p:sp>
        <p:nvSpPr>
          <p:cNvPr id="6" name="Dot_n_12"/>
          <p:cNvSpPr/>
          <p:nvPr/>
        </p:nvSpPr>
        <p:spPr>
          <a:xfrm>
            <a:off x="6597396" y="1828800"/>
            <a:ext cx="274320" cy="27432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7" name="Text 4"/>
          <p:cNvSpPr>
            <a:spLocks noGrp="1"/>
          </p:cNvSpPr>
          <p:nvPr>
            <p:ph type="body" idx="105" hasCustomPrompt="1"/>
          </p:nvPr>
        </p:nvSpPr>
        <p:spPr>
          <a:xfrm>
            <a:off x="1234440" y="178308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A</a:t>
            </a:r>
            <a:endParaRPr lang="en-US" sz="2000" dirty="0"/>
          </a:p>
        </p:txBody>
      </p:sp>
      <p:sp>
        <p:nvSpPr>
          <p:cNvPr id="8" name="Text 4"/>
          <p:cNvSpPr>
            <a:spLocks noGrp="1"/>
          </p:cNvSpPr>
          <p:nvPr>
            <p:ph idx="106" hasCustomPrompt="1"/>
          </p:nvPr>
        </p:nvSpPr>
        <p:spPr>
          <a:xfrm>
            <a:off x="822960" y="2331720"/>
            <a:ext cx="4768596" cy="32918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 algn="l">
              <a:lnSpc>
                <a:spcPct val="130000"/>
              </a:lnSpc>
              <a:buSzPct val="100000"/>
              <a:buChar char="•"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text</a:t>
            </a:r>
            <a:endParaRPr lang="en-US" sz="1400" dirty="0"/>
          </a:p>
        </p:txBody>
      </p:sp>
      <p:sp>
        <p:nvSpPr>
          <p:cNvPr id="9" name="Text 4"/>
          <p:cNvSpPr>
            <a:spLocks noGrp="1"/>
          </p:cNvSpPr>
          <p:nvPr>
            <p:ph type="body" idx="107" hasCustomPrompt="1"/>
          </p:nvPr>
        </p:nvSpPr>
        <p:spPr>
          <a:xfrm>
            <a:off x="7008876" y="178308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B</a:t>
            </a:r>
            <a:endParaRPr lang="en-US" sz="2000" dirty="0"/>
          </a:p>
        </p:txBody>
      </p:sp>
      <p:sp>
        <p:nvSpPr>
          <p:cNvPr id="10" name="Text 4"/>
          <p:cNvSpPr>
            <a:spLocks noGrp="1"/>
          </p:cNvSpPr>
          <p:nvPr>
            <p:ph idx="108" hasCustomPrompt="1"/>
          </p:nvPr>
        </p:nvSpPr>
        <p:spPr>
          <a:xfrm>
            <a:off x="6597396" y="2331720"/>
            <a:ext cx="4768596" cy="32918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 algn="l">
              <a:lnSpc>
                <a:spcPct val="130000"/>
              </a:lnSpc>
              <a:buSzPct val="100000"/>
              <a:buChar char="•"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text</a:t>
            </a:r>
            <a:endParaRPr lang="en-US" sz="1400" dirty="0"/>
          </a:p>
        </p:txBody>
      </p:sp>
      <p:sp>
        <p:nvSpPr>
          <p:cNvPr id="11" name="Text 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 Big Stat (3-up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Metrics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Card|5882|n_13"/>
          <p:cNvSpPr/>
          <p:nvPr/>
        </p:nvSpPr>
        <p:spPr>
          <a:xfrm>
            <a:off x="550863" y="1874520"/>
            <a:ext cx="3453384" cy="3110400"/>
          </a:xfrm>
          <a:prstGeom prst="roundRect">
            <a:avLst>
              <a:gd name="adj" fmla="val 5882"/>
            </a:avLst>
          </a:prstGeom>
          <a:solidFill>
            <a:srgbClr val="F2F2F7"/>
          </a:solidFill>
          <a:ln/>
          <a:effectLst/>
        </p:spPr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870903" y="2286000"/>
            <a:ext cx="2813304" cy="13716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5000" b="1" dirty="0">
                <a:solidFill>
                  <a:srgbClr val="0054A6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5000" b="1" dirty="0">
                <a:solidFill>
                  <a:srgbClr val="0054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00%</a:t>
            </a:r>
            <a:endParaRPr lang="en-US" sz="5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870903" y="3703320"/>
            <a:ext cx="2813304" cy="9144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 label</a:t>
            </a:r>
            <a:endParaRPr lang="en-US" sz="1400" dirty="0"/>
          </a:p>
        </p:txBody>
      </p:sp>
      <p:sp>
        <p:nvSpPr>
          <p:cNvPr id="6" name="Card|5882|n_14"/>
          <p:cNvSpPr/>
          <p:nvPr/>
        </p:nvSpPr>
        <p:spPr>
          <a:xfrm>
            <a:off x="4370007" y="1874520"/>
            <a:ext cx="3453384" cy="3108960"/>
          </a:xfrm>
          <a:prstGeom prst="roundRect">
            <a:avLst>
              <a:gd name="adj" fmla="val 5882"/>
            </a:avLst>
          </a:prstGeom>
          <a:solidFill>
            <a:srgbClr val="F2F2F7"/>
          </a:solidFill>
          <a:ln/>
          <a:effectLst/>
        </p:spPr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4690047" y="2286000"/>
            <a:ext cx="2813304" cy="13716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5000" b="1" dirty="0">
                <a:solidFill>
                  <a:srgbClr val="379131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5000" b="1" dirty="0">
                <a:solidFill>
                  <a:srgbClr val="3791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00%</a:t>
            </a:r>
            <a:endParaRPr lang="en-US" sz="50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4690047" y="3703320"/>
            <a:ext cx="2813304" cy="9144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 label</a:t>
            </a:r>
            <a:endParaRPr lang="en-US" sz="1400" dirty="0"/>
          </a:p>
        </p:txBody>
      </p:sp>
      <p:sp>
        <p:nvSpPr>
          <p:cNvPr id="9" name="Card|5882|n_15"/>
          <p:cNvSpPr/>
          <p:nvPr/>
        </p:nvSpPr>
        <p:spPr>
          <a:xfrm>
            <a:off x="8189151" y="1874520"/>
            <a:ext cx="3453384" cy="3108960"/>
          </a:xfrm>
          <a:prstGeom prst="roundRect">
            <a:avLst>
              <a:gd name="adj" fmla="val 5882"/>
            </a:avLst>
          </a:prstGeom>
          <a:solidFill>
            <a:srgbClr val="F2F2F7"/>
          </a:solidFill>
          <a:ln/>
          <a:effectLst/>
        </p:spPr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8509191" y="2286000"/>
            <a:ext cx="2813304" cy="13716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5000" b="1" dirty="0">
                <a:solidFill>
                  <a:srgbClr val="FF95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5000" b="1" dirty="0">
                <a:solidFill>
                  <a:srgbClr val="FF9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00%</a:t>
            </a:r>
            <a:endParaRPr lang="en-US" sz="5000" dirty="0"/>
          </a:p>
        </p:txBody>
      </p:sp>
      <p:sp>
        <p:nvSpPr>
          <p:cNvPr id="11" name="Text 3"/>
          <p:cNvSpPr>
            <a:spLocks noGrp="1"/>
          </p:cNvSpPr>
          <p:nvPr>
            <p:ph type="body" idx="109" hasCustomPrompt="1"/>
          </p:nvPr>
        </p:nvSpPr>
        <p:spPr>
          <a:xfrm>
            <a:off x="8509191" y="3703320"/>
            <a:ext cx="2813304" cy="9144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 label</a:t>
            </a:r>
            <a:endParaRPr lang="en-US" sz="1400" dirty="0"/>
          </a:p>
        </p:txBody>
      </p:sp>
      <p:sp>
        <p:nvSpPr>
          <p:cNvPr id="12" name="Text 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Slide Number Placeholder 0">
            <a:extLst>
              <a:ext uri="{FF2B5EF4-FFF2-40B4-BE49-F238E27FC236}">
                <a16:creationId xmlns:a16="http://schemas.microsoft.com/office/drawing/2014/main" id="{1106A39D-2DCA-9132-3C7F-61D6D0DE82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 dirty="0">
              <a:solidFill>
                <a:srgbClr val="64748B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50866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|4444|n_16"/>
          <p:cNvSpPr/>
          <p:nvPr/>
        </p:nvSpPr>
        <p:spPr>
          <a:xfrm>
            <a:off x="914400" y="1371600"/>
            <a:ext cx="10360152" cy="4114800"/>
          </a:xfrm>
          <a:prstGeom prst="roundRect">
            <a:avLst>
              <a:gd name="adj" fmla="val 4444"/>
            </a:avLst>
          </a:prstGeom>
          <a:solidFill>
            <a:srgbClr val="F2F2F7"/>
          </a:solidFill>
          <a:ln/>
          <a:effectLst/>
        </p:spPr>
      </p:sp>
      <p:sp>
        <p:nvSpPr>
          <p:cNvPr id="4" name="Text 2"/>
          <p:cNvSpPr>
            <a:spLocks noGrp="1"/>
          </p:cNvSpPr>
          <p:nvPr>
            <p:ph type="body" idx="102" hasCustomPrompt="1"/>
          </p:nvPr>
        </p:nvSpPr>
        <p:spPr>
          <a:xfrm>
            <a:off x="1371600" y="2286000"/>
            <a:ext cx="9445752" cy="17373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600" i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600" i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“Click to edit quotation text”</a:t>
            </a:r>
            <a:endParaRPr lang="en-US" sz="26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371600" y="42976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16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Attribution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xmlns:ns3="http://schemas.microsoft.com/office/drawing/2014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09524A-57A9-8C7A-87F5-39A30DC28B8F}"/>
              </a:ext>
            </a:extLst>
          </p:cNvPr>
          <p:cNvSpPr txBox="1"/>
          <p:nvPr userDrawn="1"/>
        </p:nvSpPr>
        <p:spPr>
          <a:xfrm>
            <a:off x="1046480" y="1595120"/>
            <a:ext cx="1341120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9600" dirty="0">
                <a:solidFill>
                  <a:schemeClr val="accent1"/>
                </a:solidFill>
              </a:rPr>
              <a:t>“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 2x2 (Bento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Card|9302|n_18"/>
          <p:cNvSpPr/>
          <p:nvPr/>
        </p:nvSpPr>
        <p:spPr>
          <a:xfrm>
            <a:off x="548640" y="1554480"/>
            <a:ext cx="5362956" cy="1965960"/>
          </a:xfrm>
          <a:prstGeom prst="roundRect">
            <a:avLst>
              <a:gd name="adj" fmla="val 9302"/>
            </a:avLst>
          </a:prstGeom>
          <a:solidFill>
            <a:srgbClr val="F2F2F7"/>
          </a:solidFill>
          <a:ln/>
          <a:effectLst/>
        </p:spPr>
      </p:sp>
      <p:sp>
        <p:nvSpPr>
          <p:cNvPr id="4" name="Dot_n_19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0054A6"/>
          </a:solidFill>
          <a:ln/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389888" y="1828800"/>
            <a:ext cx="4247388" cy="4114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 1</a:t>
            </a:r>
            <a:endParaRPr lang="en-US" sz="2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822960" y="2350008"/>
            <a:ext cx="4814316" cy="107899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description goes here</a:t>
            </a:r>
            <a:endParaRPr lang="en-US" sz="1400" dirty="0"/>
          </a:p>
        </p:txBody>
      </p:sp>
      <p:sp>
        <p:nvSpPr>
          <p:cNvPr id="7" name="Card|9302|n_20"/>
          <p:cNvSpPr/>
          <p:nvPr/>
        </p:nvSpPr>
        <p:spPr>
          <a:xfrm>
            <a:off x="6277356" y="1554480"/>
            <a:ext cx="5362956" cy="1965960"/>
          </a:xfrm>
          <a:prstGeom prst="roundRect">
            <a:avLst>
              <a:gd name="adj" fmla="val 9302"/>
            </a:avLst>
          </a:prstGeom>
          <a:solidFill>
            <a:srgbClr val="F2F2F7"/>
          </a:solidFill>
          <a:ln/>
          <a:effectLst/>
        </p:spPr>
      </p:sp>
      <p:sp>
        <p:nvSpPr>
          <p:cNvPr id="8" name="Dot_n_21"/>
          <p:cNvSpPr/>
          <p:nvPr/>
        </p:nvSpPr>
        <p:spPr>
          <a:xfrm>
            <a:off x="6551676" y="1828800"/>
            <a:ext cx="457200" cy="457200"/>
          </a:xfrm>
          <a:prstGeom prst="ellipse">
            <a:avLst/>
          </a:prstGeom>
          <a:solidFill>
            <a:srgbClr val="379131"/>
          </a:solidFill>
          <a:ln/>
        </p:spPr>
      </p:sp>
      <p:sp>
        <p:nvSpPr>
          <p:cNvPr id="9" name="Text 4"/>
          <p:cNvSpPr>
            <a:spLocks noGrp="1"/>
          </p:cNvSpPr>
          <p:nvPr>
            <p:ph type="body" idx="107" hasCustomPrompt="1"/>
          </p:nvPr>
        </p:nvSpPr>
        <p:spPr>
          <a:xfrm>
            <a:off x="7118604" y="1828800"/>
            <a:ext cx="4247388" cy="4114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 2</a:t>
            </a:r>
            <a:endParaRPr lang="en-US" sz="2000" dirty="0"/>
          </a:p>
        </p:txBody>
      </p:sp>
      <p:sp>
        <p:nvSpPr>
          <p:cNvPr id="10" name="Text 4"/>
          <p:cNvSpPr>
            <a:spLocks noGrp="1"/>
          </p:cNvSpPr>
          <p:nvPr>
            <p:ph type="body" idx="108" hasCustomPrompt="1"/>
          </p:nvPr>
        </p:nvSpPr>
        <p:spPr>
          <a:xfrm>
            <a:off x="6551676" y="2350008"/>
            <a:ext cx="4814316" cy="107899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description goes here</a:t>
            </a:r>
            <a:endParaRPr lang="en-US" sz="1400" dirty="0"/>
          </a:p>
        </p:txBody>
      </p:sp>
      <p:sp>
        <p:nvSpPr>
          <p:cNvPr id="11" name="Card|9302|n_22"/>
          <p:cNvSpPr/>
          <p:nvPr/>
        </p:nvSpPr>
        <p:spPr>
          <a:xfrm>
            <a:off x="548640" y="3886200"/>
            <a:ext cx="5362956" cy="1965960"/>
          </a:xfrm>
          <a:prstGeom prst="roundRect">
            <a:avLst>
              <a:gd name="adj" fmla="val 9302"/>
            </a:avLst>
          </a:prstGeom>
          <a:solidFill>
            <a:srgbClr val="F2F2F7"/>
          </a:solidFill>
          <a:ln/>
          <a:effectLst/>
        </p:spPr>
      </p:sp>
      <p:sp>
        <p:nvSpPr>
          <p:cNvPr id="12" name="Dot_n_2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3" name="Text 6"/>
          <p:cNvSpPr>
            <a:spLocks noGrp="1"/>
          </p:cNvSpPr>
          <p:nvPr>
            <p:ph type="body" idx="111" hasCustomPrompt="1"/>
          </p:nvPr>
        </p:nvSpPr>
        <p:spPr>
          <a:xfrm>
            <a:off x="1389888" y="4160520"/>
            <a:ext cx="4247388" cy="4114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 3</a:t>
            </a:r>
            <a:endParaRPr lang="en-US" sz="2000" dirty="0"/>
          </a:p>
        </p:txBody>
      </p:sp>
      <p:sp>
        <p:nvSpPr>
          <p:cNvPr id="14" name="Text 6"/>
          <p:cNvSpPr>
            <a:spLocks noGrp="1"/>
          </p:cNvSpPr>
          <p:nvPr>
            <p:ph type="body" idx="112" hasCustomPrompt="1"/>
          </p:nvPr>
        </p:nvSpPr>
        <p:spPr>
          <a:xfrm>
            <a:off x="822960" y="4681728"/>
            <a:ext cx="4814316" cy="107899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description goes here</a:t>
            </a:r>
            <a:endParaRPr lang="en-US" sz="1400" dirty="0"/>
          </a:p>
        </p:txBody>
      </p:sp>
      <p:sp>
        <p:nvSpPr>
          <p:cNvPr id="15" name="Card|9302|n_24"/>
          <p:cNvSpPr/>
          <p:nvPr/>
        </p:nvSpPr>
        <p:spPr>
          <a:xfrm>
            <a:off x="6277356" y="3886200"/>
            <a:ext cx="5362956" cy="1965960"/>
          </a:xfrm>
          <a:prstGeom prst="roundRect">
            <a:avLst>
              <a:gd name="adj" fmla="val 9302"/>
            </a:avLst>
          </a:prstGeom>
          <a:solidFill>
            <a:srgbClr val="F2F2F7"/>
          </a:solidFill>
          <a:ln/>
          <a:effectLst/>
        </p:spPr>
      </p:sp>
      <p:sp>
        <p:nvSpPr>
          <p:cNvPr id="16" name="Dot_n_25"/>
          <p:cNvSpPr/>
          <p:nvPr/>
        </p:nvSpPr>
        <p:spPr>
          <a:xfrm>
            <a:off x="6551676" y="4160520"/>
            <a:ext cx="457200" cy="45720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7" name="Text 8"/>
          <p:cNvSpPr>
            <a:spLocks noGrp="1"/>
          </p:cNvSpPr>
          <p:nvPr>
            <p:ph type="body" idx="115" hasCustomPrompt="1"/>
          </p:nvPr>
        </p:nvSpPr>
        <p:spPr>
          <a:xfrm>
            <a:off x="7118604" y="4160520"/>
            <a:ext cx="4247388" cy="4114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 4</a:t>
            </a:r>
            <a:endParaRPr lang="en-US" sz="2000" dirty="0"/>
          </a:p>
        </p:txBody>
      </p:sp>
      <p:sp>
        <p:nvSpPr>
          <p:cNvPr id="18" name="Text 8"/>
          <p:cNvSpPr>
            <a:spLocks noGrp="1"/>
          </p:cNvSpPr>
          <p:nvPr>
            <p:ph type="body" idx="116" hasCustomPrompt="1"/>
          </p:nvPr>
        </p:nvSpPr>
        <p:spPr>
          <a:xfrm>
            <a:off x="6551676" y="4681728"/>
            <a:ext cx="4814316" cy="107899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description goes here</a:t>
            </a:r>
            <a:endParaRPr lang="en-US" sz="1400" dirty="0"/>
          </a:p>
        </p:txBody>
      </p:sp>
      <p:sp>
        <p:nvSpPr>
          <p:cNvPr id="19" name="Text 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Three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Dot_n_26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054A6"/>
          </a:solidFill>
          <a:ln/>
        </p:spPr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05840" y="169164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 heading</a:t>
            </a:r>
            <a:endParaRPr lang="en-US" sz="2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2295144"/>
            <a:ext cx="3392424" cy="35661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30000"/>
              </a:lnSpc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text</a:t>
            </a:r>
            <a:endParaRPr lang="en-US" sz="1400" dirty="0"/>
          </a:p>
        </p:txBody>
      </p:sp>
      <p:sp>
        <p:nvSpPr>
          <p:cNvPr id="6" name="Dot_n_27"/>
          <p:cNvSpPr/>
          <p:nvPr/>
        </p:nvSpPr>
        <p:spPr>
          <a:xfrm>
            <a:off x="4398264" y="1691640"/>
            <a:ext cx="365760" cy="365760"/>
          </a:xfrm>
          <a:prstGeom prst="ellipse">
            <a:avLst/>
          </a:prstGeom>
          <a:solidFill>
            <a:srgbClr val="379131"/>
          </a:solidFill>
          <a:ln/>
        </p:spPr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4855464" y="169164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 heading</a:t>
            </a:r>
            <a:endParaRPr lang="en-US" sz="20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4398264" y="2295144"/>
            <a:ext cx="3392424" cy="35661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30000"/>
              </a:lnSpc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text</a:t>
            </a:r>
            <a:endParaRPr lang="en-US" sz="1400" dirty="0"/>
          </a:p>
        </p:txBody>
      </p:sp>
      <p:sp>
        <p:nvSpPr>
          <p:cNvPr id="9" name="Dot_n_28"/>
          <p:cNvSpPr/>
          <p:nvPr/>
        </p:nvSpPr>
        <p:spPr>
          <a:xfrm>
            <a:off x="8247888" y="1691640"/>
            <a:ext cx="365760" cy="36576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8705088" y="169164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 heading</a:t>
            </a:r>
            <a:endParaRPr lang="en-US" sz="2000" dirty="0"/>
          </a:p>
        </p:txBody>
      </p:sp>
      <p:sp>
        <p:nvSpPr>
          <p:cNvPr id="11" name="Text 3"/>
          <p:cNvSpPr>
            <a:spLocks noGrp="1"/>
          </p:cNvSpPr>
          <p:nvPr>
            <p:ph type="body" idx="109" hasCustomPrompt="1"/>
          </p:nvPr>
        </p:nvSpPr>
        <p:spPr>
          <a:xfrm>
            <a:off x="8247888" y="2295144"/>
            <a:ext cx="3392424" cy="35661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30000"/>
              </a:lnSpc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text</a:t>
            </a:r>
            <a:endParaRPr lang="en-US" sz="1400" dirty="0"/>
          </a:p>
        </p:txBody>
      </p:sp>
      <p:sp>
        <p:nvSpPr>
          <p:cNvPr id="12" name="Text 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Team / Profi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Dot_n_29"/>
          <p:cNvSpPr/>
          <p:nvPr/>
        </p:nvSpPr>
        <p:spPr>
          <a:xfrm>
            <a:off x="1620012" y="1737360"/>
            <a:ext cx="1280160" cy="128016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0054A6"/>
            </a:solidFill>
            <a:prstDash val="solid"/>
          </a:ln>
        </p:spPr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24612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  <a:endParaRPr lang="en-US" sz="2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611880"/>
            <a:ext cx="3422904" cy="3200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6" name="Dot_n_30"/>
          <p:cNvSpPr/>
          <p:nvPr/>
        </p:nvSpPr>
        <p:spPr>
          <a:xfrm>
            <a:off x="5454396" y="1737360"/>
            <a:ext cx="1280160" cy="128016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379131"/>
            </a:solidFill>
            <a:prstDash val="solid"/>
          </a:ln>
        </p:spPr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4383024" y="324612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  <a:endParaRPr lang="en-US" sz="20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4383024" y="3611880"/>
            <a:ext cx="3422904" cy="3200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9" name="Dot_n_31"/>
          <p:cNvSpPr/>
          <p:nvPr/>
        </p:nvSpPr>
        <p:spPr>
          <a:xfrm>
            <a:off x="9288780" y="1737360"/>
            <a:ext cx="1280160" cy="128016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8217408" y="324612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  <a:endParaRPr lang="en-US" sz="2000" dirty="0"/>
          </a:p>
        </p:txBody>
      </p:sp>
      <p:sp>
        <p:nvSpPr>
          <p:cNvPr id="11" name="Text 3"/>
          <p:cNvSpPr>
            <a:spLocks noGrp="1"/>
          </p:cNvSpPr>
          <p:nvPr>
            <p:ph type="body" idx="109" hasCustomPrompt="1"/>
          </p:nvPr>
        </p:nvSpPr>
        <p:spPr>
          <a:xfrm>
            <a:off x="8217408" y="3611880"/>
            <a:ext cx="3422904" cy="3200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12" name="Text 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Chart + Comment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Card|4255|n_32"/>
          <p:cNvSpPr/>
          <p:nvPr/>
        </p:nvSpPr>
        <p:spPr>
          <a:xfrm>
            <a:off x="548640" y="1554480"/>
            <a:ext cx="6583680" cy="4297680"/>
          </a:xfrm>
          <a:prstGeom prst="roundRect">
            <a:avLst>
              <a:gd name="adj" fmla="val 4255"/>
            </a:avLst>
          </a:prstGeom>
          <a:solidFill>
            <a:srgbClr val="F2F2F7"/>
          </a:solidFill>
          <a:ln/>
          <a:effectLst/>
        </p:spPr>
      </p:sp>
      <p:sp>
        <p:nvSpPr>
          <p:cNvPr id="4" name="Text 1"/>
          <p:cNvSpPr>
            <a:spLocks noGrp="1"/>
          </p:cNvSpPr>
          <p:nvPr>
            <p:ph idx="102" hasCustomPrompt="1"/>
          </p:nvPr>
        </p:nvSpPr>
        <p:spPr>
          <a:xfrm>
            <a:off x="914400" y="33832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 chart here</a:t>
            </a:r>
            <a:endParaRPr lang="en-US" sz="1400" dirty="0"/>
          </a:p>
        </p:txBody>
      </p:sp>
      <p:sp>
        <p:nvSpPr>
          <p:cNvPr id="5" name="Pill_n_33"/>
          <p:cNvSpPr/>
          <p:nvPr/>
        </p:nvSpPr>
        <p:spPr>
          <a:xfrm>
            <a:off x="7589520" y="18288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0054A6"/>
          </a:solidFill>
          <a:ln/>
        </p:spPr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7589520" y="2103120"/>
            <a:ext cx="4050792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2A2A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7589520" y="2697480"/>
            <a:ext cx="4050792" cy="27432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30000"/>
              </a:lnSpc>
              <a:buNone/>
              <a:defRPr lang="en-US" sz="1400" b="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commentary explaining the single most important pattern</a:t>
            </a:r>
            <a:endParaRPr lang="en-US" sz="1400" dirty="0"/>
          </a:p>
        </p:txBody>
      </p:sp>
      <p:sp>
        <p:nvSpPr>
          <p:cNvPr id="8" name="Text 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Problem / Solu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46304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FF3B3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FF3B3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368796" y="146304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000" b="1" dirty="0">
                <a:solidFill>
                  <a:srgbClr val="379131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3791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</a:t>
            </a:r>
            <a:endParaRPr lang="en-US" sz="2000" dirty="0"/>
          </a:p>
        </p:txBody>
      </p:sp>
      <p:sp>
        <p:nvSpPr>
          <p:cNvPr id="5" name="Dot_n_39"/>
          <p:cNvSpPr/>
          <p:nvPr/>
        </p:nvSpPr>
        <p:spPr>
          <a:xfrm>
            <a:off x="548640" y="2011680"/>
            <a:ext cx="310896" cy="31089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1051560" y="1938528"/>
            <a:ext cx="4768596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problem text</a:t>
            </a:r>
            <a:endParaRPr lang="en-US" sz="1400" dirty="0"/>
          </a:p>
        </p:txBody>
      </p:sp>
      <p:sp>
        <p:nvSpPr>
          <p:cNvPr id="7" name="Dot_n_40"/>
          <p:cNvSpPr/>
          <p:nvPr/>
        </p:nvSpPr>
        <p:spPr>
          <a:xfrm>
            <a:off x="6368796" y="2011680"/>
            <a:ext cx="310896" cy="310896"/>
          </a:xfrm>
          <a:prstGeom prst="ellipse">
            <a:avLst/>
          </a:prstGeom>
          <a:solidFill>
            <a:srgbClr val="379131"/>
          </a:solidFill>
          <a:ln/>
        </p:spPr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6871716" y="1938528"/>
            <a:ext cx="4768596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solution text</a:t>
            </a:r>
            <a:endParaRPr lang="en-US" sz="1400" dirty="0"/>
          </a:p>
        </p:txBody>
      </p:sp>
      <p:sp>
        <p:nvSpPr>
          <p:cNvPr id="9" name="Dot_n_41"/>
          <p:cNvSpPr/>
          <p:nvPr/>
        </p:nvSpPr>
        <p:spPr>
          <a:xfrm>
            <a:off x="548640" y="3429000"/>
            <a:ext cx="310896" cy="31089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1051560" y="3355848"/>
            <a:ext cx="4768596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problem text</a:t>
            </a:r>
            <a:endParaRPr lang="en-US" sz="1400" dirty="0"/>
          </a:p>
        </p:txBody>
      </p:sp>
      <p:sp>
        <p:nvSpPr>
          <p:cNvPr id="11" name="Dot_n_42"/>
          <p:cNvSpPr/>
          <p:nvPr/>
        </p:nvSpPr>
        <p:spPr>
          <a:xfrm>
            <a:off x="6368796" y="3429000"/>
            <a:ext cx="310896" cy="310896"/>
          </a:xfrm>
          <a:prstGeom prst="ellipse">
            <a:avLst/>
          </a:prstGeom>
          <a:solidFill>
            <a:srgbClr val="379131"/>
          </a:solidFill>
          <a:ln/>
        </p:spPr>
      </p:sp>
      <p:sp>
        <p:nvSpPr>
          <p:cNvPr id="12" name="Text 4"/>
          <p:cNvSpPr>
            <a:spLocks noGrp="1"/>
          </p:cNvSpPr>
          <p:nvPr>
            <p:ph type="body" idx="110" hasCustomPrompt="1"/>
          </p:nvPr>
        </p:nvSpPr>
        <p:spPr>
          <a:xfrm>
            <a:off x="6871716" y="3355848"/>
            <a:ext cx="4768596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solution text</a:t>
            </a:r>
            <a:endParaRPr lang="en-US" sz="1400" dirty="0"/>
          </a:p>
        </p:txBody>
      </p:sp>
      <p:sp>
        <p:nvSpPr>
          <p:cNvPr id="13" name="Dot_n_43"/>
          <p:cNvSpPr/>
          <p:nvPr/>
        </p:nvSpPr>
        <p:spPr>
          <a:xfrm>
            <a:off x="548640" y="4846320"/>
            <a:ext cx="310896" cy="31089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Text 5"/>
          <p:cNvSpPr>
            <a:spLocks noGrp="1"/>
          </p:cNvSpPr>
          <p:nvPr>
            <p:ph type="body" idx="112" hasCustomPrompt="1"/>
          </p:nvPr>
        </p:nvSpPr>
        <p:spPr>
          <a:xfrm>
            <a:off x="1051560" y="4773168"/>
            <a:ext cx="4768596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problem text</a:t>
            </a:r>
            <a:endParaRPr lang="en-US" sz="1400" dirty="0"/>
          </a:p>
        </p:txBody>
      </p:sp>
      <p:sp>
        <p:nvSpPr>
          <p:cNvPr id="15" name="Dot_n_44"/>
          <p:cNvSpPr/>
          <p:nvPr/>
        </p:nvSpPr>
        <p:spPr>
          <a:xfrm>
            <a:off x="6368796" y="4846320"/>
            <a:ext cx="310896" cy="310896"/>
          </a:xfrm>
          <a:prstGeom prst="ellipse">
            <a:avLst/>
          </a:prstGeom>
          <a:solidFill>
            <a:srgbClr val="379131"/>
          </a:solidFill>
          <a:ln/>
        </p:spPr>
      </p:sp>
      <p:sp>
        <p:nvSpPr>
          <p:cNvPr id="16" name="Text 6"/>
          <p:cNvSpPr>
            <a:spLocks noGrp="1"/>
          </p:cNvSpPr>
          <p:nvPr>
            <p:ph type="body" idx="114" hasCustomPrompt="1"/>
          </p:nvPr>
        </p:nvSpPr>
        <p:spPr>
          <a:xfrm>
            <a:off x="6871716" y="4773168"/>
            <a:ext cx="4768596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lnSpc>
                <a:spcPct val="125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solution text</a:t>
            </a:r>
            <a:endParaRPr lang="en-US" sz="1400" dirty="0"/>
          </a:p>
        </p:txBody>
      </p:sp>
      <p:sp>
        <p:nvSpPr>
          <p:cNvPr id="17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 Timeline / Proce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to edit title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3" name="Line_45"/>
          <p:cNvSpPr/>
          <p:nvPr/>
        </p:nvSpPr>
        <p:spPr>
          <a:xfrm>
            <a:off x="1935099" y="3291840"/>
            <a:ext cx="8318754" cy="0"/>
          </a:xfrm>
          <a:prstGeom prst="line">
            <a:avLst/>
          </a:prstGeom>
          <a:noFill/>
          <a:ln w="19050">
            <a:solidFill>
              <a:srgbClr val="C6C6C8"/>
            </a:solidFill>
            <a:prstDash val="solid"/>
          </a:ln>
        </p:spPr>
      </p:sp>
      <p:sp>
        <p:nvSpPr>
          <p:cNvPr id="4" name="Dot_n_46"/>
          <p:cNvSpPr/>
          <p:nvPr/>
        </p:nvSpPr>
        <p:spPr>
          <a:xfrm>
            <a:off x="1733931" y="3108960"/>
            <a:ext cx="402336" cy="402336"/>
          </a:xfrm>
          <a:prstGeom prst="ellipse">
            <a:avLst/>
          </a:prstGeom>
          <a:solidFill>
            <a:srgbClr val="0054A6"/>
          </a:solidFill>
          <a:ln/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2498598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lnSpc>
                <a:spcPct val="120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step</a:t>
            </a:r>
            <a:endParaRPr lang="en-US" sz="1400" dirty="0"/>
          </a:p>
        </p:txBody>
      </p:sp>
      <p:sp>
        <p:nvSpPr>
          <p:cNvPr id="6" name="Dot_n_47"/>
          <p:cNvSpPr/>
          <p:nvPr/>
        </p:nvSpPr>
        <p:spPr>
          <a:xfrm>
            <a:off x="4506849" y="3108960"/>
            <a:ext cx="402336" cy="402336"/>
          </a:xfrm>
          <a:prstGeom prst="ellipse">
            <a:avLst/>
          </a:prstGeom>
          <a:solidFill>
            <a:srgbClr val="379131"/>
          </a:solidFill>
          <a:ln/>
        </p:spPr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3458718" y="3703320"/>
            <a:ext cx="2498598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lnSpc>
                <a:spcPct val="120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step</a:t>
            </a:r>
            <a:endParaRPr lang="en-US" sz="1400" dirty="0"/>
          </a:p>
        </p:txBody>
      </p:sp>
      <p:sp>
        <p:nvSpPr>
          <p:cNvPr id="8" name="Dot_n_48"/>
          <p:cNvSpPr/>
          <p:nvPr/>
        </p:nvSpPr>
        <p:spPr>
          <a:xfrm>
            <a:off x="7279767" y="3108960"/>
            <a:ext cx="402336" cy="40233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9" name="Text 4"/>
          <p:cNvSpPr>
            <a:spLocks noGrp="1"/>
          </p:cNvSpPr>
          <p:nvPr>
            <p:ph type="body" idx="107" hasCustomPrompt="1"/>
          </p:nvPr>
        </p:nvSpPr>
        <p:spPr>
          <a:xfrm>
            <a:off x="6231636" y="3703320"/>
            <a:ext cx="2498598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lnSpc>
                <a:spcPct val="120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step</a:t>
            </a:r>
            <a:endParaRPr lang="en-US" sz="1400" dirty="0"/>
          </a:p>
        </p:txBody>
      </p:sp>
      <p:sp>
        <p:nvSpPr>
          <p:cNvPr id="10" name="Dot_n_49"/>
          <p:cNvSpPr/>
          <p:nvPr/>
        </p:nvSpPr>
        <p:spPr>
          <a:xfrm>
            <a:off x="10052685" y="3108960"/>
            <a:ext cx="402336" cy="40233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1" name="Text 5"/>
          <p:cNvSpPr>
            <a:spLocks noGrp="1"/>
          </p:cNvSpPr>
          <p:nvPr>
            <p:ph type="body" idx="109" hasCustomPrompt="1"/>
          </p:nvPr>
        </p:nvSpPr>
        <p:spPr>
          <a:xfrm>
            <a:off x="9004554" y="3703320"/>
            <a:ext cx="2498598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ctr">
              <a:lnSpc>
                <a:spcPct val="120000"/>
              </a:lnSpc>
              <a:buNone/>
              <a:def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step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64748B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64748B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>
              <a:solidFill>
                <a:srgbClr val="64748B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 Full-Bleed 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F2F2F7"/>
                </a:solidFill>
                <a:latin typeface="Montserrat"/>
              </a:rPr>
              <a:t>‹#›</a:t>
            </a:fld>
            <a:endParaRPr lang="en-US" sz="850" b="0">
              <a:solidFill>
                <a:srgbClr val="F2F2F7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 Thank You">
    <p:bg>
      <p:bgPr>
        <a:solidFill>
          <a:srgbClr val="0054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5146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2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2400" b="1" dirty="0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5661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indent="0" algn="l">
              <a:buNone/>
              <a:defRPr lang="en-US" sz="1800" dirty="0">
                <a:solidFill>
                  <a:srgbClr val="FDCD8B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FDCD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edit contact details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© </a:t>
            </a:r>
            <a:r>
              <a:rPr lang="en-US" sz="850" dirty="0" err="1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Unexo</a:t>
            </a:r>
            <a:r>
              <a:rPr lang="en-US" sz="850" dirty="0">
                <a:solidFill>
                  <a:srgbClr val="FFFFFF"/>
                </a:solidFill>
                <a:latin typeface="Montserrat" panose="00000500000000000000" pitchFamily="2" charset="0"/>
                <a:ea typeface="Roboto" pitchFamily="34" charset="-122"/>
                <a:cs typeface="Roboto" pitchFamily="34" charset="-120"/>
              </a:rPr>
              <a:t> Life Sciences Private Limited</a:t>
            </a:r>
            <a:endParaRPr lang="en-US" sz="850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F2F2F7"/>
                </a:solidFill>
                <a:latin typeface="Montserrat"/>
              </a:rPr>
              <a:t>‹#›</a:t>
            </a:fld>
            <a:endParaRPr lang="en-US" sz="850" b="0">
              <a:solidFill>
                <a:srgbClr val="F2F2F7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Viopatch Master Logo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61600" y="355600"/>
            <a:ext cx="1198880" cy="3175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550863" y="538480"/>
            <a:ext cx="9144000" cy="802958"/>
          </a:xfrm>
          <a:prstGeom prst="rect">
            <a:avLst/>
          </a:prstGeom>
          <a:noFill/>
        </p:spPr>
        <p:txBody>
          <a:bodyPr vert="horz" lIns="0" tIns="0" rIns="0" bIns="0" rtlCol="0" anchor="t"/>
          <a:lstStyle/>
          <a:p>
            <a:r>
              <a:rPr lang="en-US" sz="2400" b="1">
                <a:latin typeface="Montserrat"/>
              </a:rPr>
              <a:t>Click to edit Master title style</a:t>
            </a:r>
            <a:endParaRPr lang="en-US" sz="2400" b="1">
              <a:solidFill>
                <a:srgbClr val="0054A6"/>
              </a:solidFill>
              <a:latin typeface="Montserrat"/>
            </a:endParaRPr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550862" y="1520825"/>
            <a:ext cx="11090275" cy="4608513"/>
          </a:xfrm>
          <a:prstGeom prst="rect">
            <a:avLst/>
          </a:prstGeom>
          <a:noFill/>
        </p:spPr>
        <p:txBody>
          <a:bodyPr anchor="t"/>
          <a:lstStyle/>
          <a:p>
            <a:pPr lvl="0" algn="l"/>
            <a:r>
              <a:rPr lang="en-US" sz="1600" b="1" dirty="0">
                <a:solidFill>
                  <a:srgbClr val="2A2A28"/>
                </a:solidFill>
                <a:latin typeface="Roboto"/>
              </a:rPr>
              <a:t>Click to edit Master text styles</a:t>
            </a:r>
          </a:p>
          <a:p>
            <a:pPr lvl="1" algn="l"/>
            <a:r>
              <a:rPr lang="en-US" sz="1400" dirty="0">
                <a:solidFill>
                  <a:srgbClr val="2A2A28"/>
                </a:solidFill>
                <a:latin typeface="Roboto"/>
              </a:rPr>
              <a:t>Second level</a:t>
            </a:r>
          </a:p>
          <a:p>
            <a:pPr lvl="2" algn="l"/>
            <a:r>
              <a:rPr lang="en-US" sz="1250" dirty="0">
                <a:solidFill>
                  <a:srgbClr val="64748B"/>
                </a:solidFill>
                <a:latin typeface="Roboto"/>
              </a:rPr>
              <a:t>Third level</a:t>
            </a:r>
          </a:p>
          <a:p>
            <a:pPr lvl="3" algn="l"/>
            <a:r>
              <a:rPr lang="en-US" sz="1100" dirty="0">
                <a:solidFill>
                  <a:srgbClr val="64748B"/>
                </a:solidFill>
                <a:latin typeface="Roboto"/>
              </a:rPr>
              <a:t>Fourth level</a:t>
            </a:r>
          </a:p>
        </p:txBody>
      </p:sp>
      <p:sp>
        <p:nvSpPr>
          <p:cNvPr id="2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vert="horz" lIns="0" tIns="0" rIns="0" bIns="0" anchor="t"/>
          <a:lstStyle/>
          <a:p>
            <a:endParaRPr lang="en-US" sz="850" baseline="30000" dirty="0">
              <a:solidFill>
                <a:srgbClr val="64748B"/>
              </a:solidFill>
              <a:latin typeface="Montserrat"/>
            </a:endParaRPr>
          </a:p>
        </p:txBody>
      </p:sp>
      <p:sp>
        <p:nvSpPr>
          <p:cNvPr id="2" name="Slide Number Placeholder 0">
            <a:extLst>
              <a:ext uri="{FF2B5EF4-FFF2-40B4-BE49-F238E27FC236}">
                <a16:creationId xmlns:a16="http://schemas.microsoft.com/office/drawing/2014/main" id="{BB25A7C6-1EB3-113D-5654-1824C2182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46520"/>
            <a:ext cx="548640" cy="274320"/>
          </a:xfrm>
          <a:prstGeom prst="rect">
            <a:avLst/>
          </a:prstGeom>
          <a:extLst>
            <a:ext uri="{C572A759-6A51-4108-AA02-DFA0A04FC94B}">
              <ns2:wrappingTextBoxFlag xmlns="" xmlns:ns2="http://schemas.microsoft.com/office/mac/drawingml/2011/main" val="0"/>
            </a:ext>
          </a:extLst>
        </p:spPr>
        <p:txBody>
          <a:bodyPr anchor="t"/>
          <a:lstStyle>
            <a:lvl1pPr>
              <a:defRPr sz="850" b="0">
                <a:latin typeface="Montserrat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sz="850" b="0">
                <a:solidFill>
                  <a:srgbClr val="64748B"/>
                </a:solidFill>
                <a:latin typeface="Montserrat"/>
              </a:rPr>
              <a:t>‹#›</a:t>
            </a:fld>
            <a:endParaRPr lang="en-US" sz="850" b="0" dirty="0">
              <a:solidFill>
                <a:srgbClr val="64748B"/>
              </a:solidFill>
              <a:latin typeface="Montserra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73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67" r:id="rId17"/>
    <p:sldLayoutId id="2147483668" r:id="rId18"/>
    <p:sldLayoutId id="2147483669" r:id="rId19"/>
  </p:sldLayoutIdLst>
  <p:hf hdr="0" ftr="0" dt="0"/>
  <p:txStyles>
    <p:titleStyle>
      <a:lvl1pPr algn="l">
        <a:defRPr sz="2400" b="1">
          <a:latin typeface="Montserrat"/>
          <a:ea typeface="Montserrat"/>
          <a:cs typeface="Montserrat"/>
        </a:defRPr>
      </a:lvl1pPr>
    </p:titleStyle>
    <p:bodyStyle>
      <a:lvl1pPr algn="l">
        <a:buClr>
          <a:srgbClr val="0054A6"/>
        </a:buClr>
        <a:defRPr sz="1600" b="1">
          <a:solidFill>
            <a:srgbClr val="2A2A28"/>
          </a:solidFill>
          <a:latin typeface="Roboto"/>
          <a:ea typeface="Roboto"/>
          <a:cs typeface="Roboto"/>
        </a:defRPr>
      </a:lvl1pPr>
      <a:lvl2pPr algn="l">
        <a:buClr>
          <a:srgbClr val="379131"/>
        </a:buClr>
        <a:defRPr sz="1400">
          <a:solidFill>
            <a:srgbClr val="2A2A28"/>
          </a:solidFill>
          <a:latin typeface="Roboto"/>
          <a:ea typeface="Roboto"/>
          <a:cs typeface="Roboto"/>
        </a:defRPr>
      </a:lvl2pPr>
      <a:lvl3pPr algn="l">
        <a:buClr>
          <a:srgbClr val="64748B"/>
        </a:buClr>
        <a:defRPr sz="1250">
          <a:solidFill>
            <a:srgbClr val="64748B"/>
          </a:solidFill>
          <a:latin typeface="Roboto"/>
          <a:ea typeface="Roboto"/>
          <a:cs typeface="Roboto"/>
        </a:defRPr>
      </a:lvl3pPr>
      <a:lvl4pPr algn="l">
        <a:defRPr sz="1100">
          <a:solidFill>
            <a:srgbClr val="64748B"/>
          </a:solidFill>
          <a:latin typeface="Roboto"/>
        </a:defRPr>
      </a:lvl4pPr>
    </p:bodyStyle>
    <p:otherStyle>
      <a:lvl1pPr>
        <a:defRPr sz="1400">
          <a:solidFill>
            <a:srgbClr val="2A2A28"/>
          </a:solidFill>
          <a:latin typeface="Roboto"/>
        </a:defRPr>
      </a:lvl1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845" userDrawn="1">
          <p15:clr>
            <a:srgbClr val="F26B43"/>
          </p15:clr>
        </p15:guide>
        <p15:guide id="5" orient="horz" pos="95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pos="3839" userDrawn="1">
          <p15:clr>
            <a:srgbClr val="F26B43"/>
          </p15:clr>
        </p15:guide>
        <p15:guide id="8" orient="horz" pos="40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master_logo_for_dark_bg_with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64" y="467998"/>
            <a:ext cx="4754574" cy="125856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0FB6846-6923-DA8E-46EA-CE4CB983C4DE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50863" y="3099816"/>
            <a:ext cx="11090275" cy="1197864"/>
          </a:xfrm>
        </p:spPr>
        <p:txBody>
          <a:bodyPr/>
          <a:lstStyle/>
          <a:p>
            <a:r>
              <a:rPr lang="en-IN" sz="4000" dirty="0"/>
              <a:t>Brand Style Guide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9F5A28-1D44-8A05-A9B8-963A23451065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550863" y="4343400"/>
            <a:ext cx="11090275" cy="548640"/>
          </a:xfrm>
        </p:spPr>
        <p:txBody>
          <a:bodyPr/>
          <a:lstStyle/>
          <a:p>
            <a:r>
              <a:rPr lang="en-IN" dirty="0"/>
              <a:t>10 September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9A87B-0A0A-194E-B90B-30895C0E4F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</p:spPr>
        <p:txBody>
          <a:bodyPr anchor="t"/>
          <a:lstStyle/>
          <a:p>
            <a:fld id="{F7021451-1387-4CA6-816F-3879F97B5C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0980-8AEA-5486-0554-4A550A299942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502920"/>
            <a:ext cx="9144000" cy="822960"/>
          </a:xfrm>
        </p:spPr>
        <p:txBody>
          <a:bodyPr wrap="square" anchor="t"/>
          <a:lstStyle/>
          <a:p>
            <a:r>
              <a:rPr lang="en-US"/>
              <a:t>Viopatch Brand Value Ladder &amp; Thematic Matrix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779E7A-F0AD-9B9A-9B58-F2E11225BF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</p:spPr>
        <p:txBody>
          <a:bodyPr anchor="t"/>
          <a:lstStyle/>
          <a:p>
            <a:fld id="{F7021451-1387-4CA6-816F-3879F97B5CB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Subtitle"/>
          <p:cNvSpPr/>
          <p:nvPr/>
        </p:nvSpPr>
        <p:spPr>
          <a:xfrm>
            <a:off x="550864" y="1080000"/>
            <a:ext cx="9144000" cy="32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/>
            <a:r>
              <a:rPr lang="en-US" sz="1100" b="0">
                <a:solidFill>
                  <a:srgbClr val="475569"/>
                </a:solidFill>
                <a:latin typeface="Montserrat"/>
              </a:rPr>
              <a:t>Mapping foundational pharmaceutical rigor to life-changing emotional outcomes across three strategic benefit pillars</a:t>
            </a:r>
          </a:p>
        </p:txBody>
      </p:sp>
      <p:sp>
        <p:nvSpPr>
          <p:cNvPr id="101" name="Badge_Tier3"/>
          <p:cNvSpPr/>
          <p:nvPr/>
        </p:nvSpPr>
        <p:spPr>
          <a:xfrm>
            <a:off x="550864" y="1520000"/>
            <a:ext cx="2000000" cy="1060000"/>
          </a:xfrm>
          <a:prstGeom prst="roundRect">
            <a:avLst>
              <a:gd name="adj" fmla="val 3000"/>
            </a:avLst>
          </a:prstGeom>
          <a:solidFill>
            <a:srgbClr val="C2410C"/>
          </a:solidFill>
          <a:ln/>
        </p:spPr>
        <p:txBody>
          <a:bodyPr wrap="square" lIns="120000" tIns="100000" rIns="120000" bIns="100000" anchor="t"/>
          <a:lstStyle/>
          <a:p>
            <a:pPr algn="l">
              <a:spcAft>
                <a:spcPts val="200"/>
              </a:spcAft>
            </a:pPr>
            <a:r>
              <a:rPr lang="en-US" sz="800" b="1" dirty="0">
                <a:solidFill>
                  <a:srgbClr val="FFFFFF"/>
                </a:solidFill>
                <a:latin typeface="Montserrat"/>
              </a:rPr>
              <a:t>TIER 3</a:t>
            </a:r>
          </a:p>
          <a:p>
            <a:pPr algn="l">
              <a:spcAft>
                <a:spcPts val="200"/>
              </a:spcAft>
            </a:pPr>
            <a:r>
              <a:rPr lang="en-US" sz="1250" b="1" dirty="0">
                <a:solidFill>
                  <a:srgbClr val="FFFFFF"/>
                </a:solidFill>
                <a:latin typeface="Montserrat"/>
              </a:rPr>
              <a:t>Life-Changing Emotional</a:t>
            </a:r>
          </a:p>
          <a:p>
            <a:pPr algn="l"/>
            <a:r>
              <a:rPr lang="en-US" sz="850" b="0" dirty="0">
                <a:solidFill>
                  <a:srgbClr val="FFFFFF"/>
                </a:solidFill>
                <a:latin typeface="Montserrat"/>
              </a:rPr>
              <a:t>Transformative Human Outcomes</a:t>
            </a:r>
          </a:p>
        </p:txBody>
      </p:sp>
      <p:sp>
        <p:nvSpPr>
          <p:cNvPr id="102" name="T3_Card1"/>
          <p:cNvSpPr/>
          <p:nvPr/>
        </p:nvSpPr>
        <p:spPr>
          <a:xfrm>
            <a:off x="2670864" y="1520000"/>
            <a:ext cx="2910090" cy="10600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120000" tIns="100000" rIns="120000" bIns="100000" anchor="t"/>
          <a:lstStyle/>
          <a:p>
            <a:pPr algn="l">
              <a:spcAft>
                <a:spcPts val="150"/>
              </a:spcAft>
            </a:pPr>
            <a:r>
              <a:rPr lang="en-US" sz="800" b="1">
                <a:solidFill>
                  <a:srgbClr val="379131"/>
                </a:solidFill>
                <a:latin typeface="Montserrat"/>
              </a:rPr>
              <a:t>SAFETY &amp; VITALITY</a:t>
            </a:r>
          </a:p>
          <a:p>
            <a:pPr algn="l">
              <a:spcAft>
                <a:spcPts val="200"/>
              </a:spcAft>
            </a:pPr>
            <a:r>
              <a:rPr lang="en-US" sz="1050" b="1">
                <a:solidFill>
                  <a:srgbClr val="2A2A28"/>
                </a:solidFill>
                <a:latin typeface="Montserrat"/>
              </a:rPr>
              <a:t>Zero Pill Anxiety &amp; Organ Peace</a:t>
            </a:r>
          </a:p>
          <a:p>
            <a:pPr algn="l"/>
            <a:r>
              <a:rPr lang="en-US" sz="850" b="0">
                <a:solidFill>
                  <a:srgbClr val="2A2A28"/>
                </a:solidFill>
                <a:latin typeface="Roboto"/>
              </a:rPr>
              <a:t>Freedom from chronic NSAID dread; complete confidence in gentle, sustained, non-damaging long-term relief.</a:t>
            </a:r>
          </a:p>
        </p:txBody>
      </p:sp>
      <p:sp>
        <p:nvSpPr>
          <p:cNvPr id="103" name="T3_Card2"/>
          <p:cNvSpPr/>
          <p:nvPr/>
        </p:nvSpPr>
        <p:spPr>
          <a:xfrm>
            <a:off x="5700954" y="1520000"/>
            <a:ext cx="2910090" cy="106000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120000" tIns="100000" rIns="120000" bIns="100000" anchor="t"/>
          <a:lstStyle/>
          <a:p>
            <a:pPr algn="l">
              <a:spcAft>
                <a:spcPts val="150"/>
              </a:spcAft>
            </a:pPr>
            <a:r>
              <a:rPr lang="en-US" sz="800" b="1">
                <a:solidFill>
                  <a:srgbClr val="F26B43"/>
                </a:solidFill>
                <a:latin typeface="Montserrat"/>
              </a:rPr>
              <a:t>ACTIVE MOBILITY</a:t>
            </a:r>
          </a:p>
          <a:p>
            <a:pPr algn="l">
              <a:spcAft>
                <a:spcPts val="200"/>
              </a:spcAft>
            </a:pPr>
            <a:r>
              <a:rPr lang="en-US" sz="1050" b="1">
                <a:solidFill>
                  <a:srgbClr val="2A2A28"/>
                </a:solidFill>
                <a:latin typeface="Montserrat"/>
              </a:rPr>
              <a:t>Spontaneous Mobility &amp; Freedom</a:t>
            </a:r>
          </a:p>
          <a:p>
            <a:pPr algn="l"/>
            <a:r>
              <a:rPr lang="en-US" sz="850" b="0">
                <a:solidFill>
                  <a:srgbClr val="2A2A28"/>
                </a:solidFill>
                <a:latin typeface="Roboto"/>
              </a:rPr>
              <a:t>Restores daily movement — unrestricted walking, stairs, family playtime, and active living without pain dread.</a:t>
            </a:r>
          </a:p>
        </p:txBody>
      </p:sp>
      <p:sp>
        <p:nvSpPr>
          <p:cNvPr id="104" name="T3_Card3"/>
          <p:cNvSpPr/>
          <p:nvPr/>
        </p:nvSpPr>
        <p:spPr>
          <a:xfrm>
            <a:off x="8731044" y="1520000"/>
            <a:ext cx="2910090" cy="106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txBody>
          <a:bodyPr wrap="square" lIns="120000" tIns="100000" rIns="120000" bIns="100000" anchor="t"/>
          <a:lstStyle/>
          <a:p>
            <a:pPr algn="l">
              <a:spcAft>
                <a:spcPts val="150"/>
              </a:spcAft>
            </a:pPr>
            <a:r>
              <a:rPr lang="en-US" sz="800" b="1">
                <a:solidFill>
                  <a:srgbClr val="0284C7"/>
                </a:solidFill>
                <a:latin typeface="Montserrat"/>
              </a:rPr>
              <a:t>DIGNITY &amp; REST</a:t>
            </a:r>
          </a:p>
          <a:p>
            <a:pPr algn="l">
              <a:spcAft>
                <a:spcPts val="200"/>
              </a:spcAft>
            </a:pPr>
            <a:r>
              <a:rPr lang="en-US" sz="1050" b="1">
                <a:solidFill>
                  <a:srgbClr val="2A2A28"/>
                </a:solidFill>
                <a:latin typeface="Montserrat"/>
              </a:rPr>
              <a:t>8+ Hours Restorative Sleep</a:t>
            </a:r>
          </a:p>
          <a:p>
            <a:pPr algn="l"/>
            <a:r>
              <a:rPr lang="en-US" sz="850" b="0">
                <a:solidFill>
                  <a:srgbClr val="2A2A28"/>
                </a:solidFill>
                <a:latin typeface="Roboto"/>
              </a:rPr>
              <a:t>Eliminates 3 AM throbbing wake-ups. Wearable discretion under clothes without awkward balm smell or stains.</a:t>
            </a:r>
          </a:p>
        </p:txBody>
      </p:sp>
      <p:sp>
        <p:nvSpPr>
          <p:cNvPr id="105" name="Badge_Tier2"/>
          <p:cNvSpPr/>
          <p:nvPr/>
        </p:nvSpPr>
        <p:spPr>
          <a:xfrm>
            <a:off x="550864" y="2720000"/>
            <a:ext cx="2000000" cy="1060000"/>
          </a:xfrm>
          <a:prstGeom prst="roundRect">
            <a:avLst>
              <a:gd name="adj" fmla="val 3000"/>
            </a:avLst>
          </a:prstGeom>
          <a:solidFill>
            <a:srgbClr val="379131"/>
          </a:solidFill>
          <a:ln/>
        </p:spPr>
        <p:txBody>
          <a:bodyPr wrap="square" lIns="120000" tIns="100000" rIns="120000" bIns="100000" anchor="t"/>
          <a:lstStyle/>
          <a:p>
            <a:pPr algn="l">
              <a:spcAft>
                <a:spcPts val="200"/>
              </a:spcAft>
            </a:pPr>
            <a:r>
              <a:rPr lang="en-US" sz="800" b="1" dirty="0">
                <a:solidFill>
                  <a:srgbClr val="FFFFFF"/>
                </a:solidFill>
                <a:latin typeface="Montserrat"/>
              </a:rPr>
              <a:t>TIER 2</a:t>
            </a:r>
          </a:p>
          <a:p>
            <a:pPr algn="l">
              <a:spcAft>
                <a:spcPts val="200"/>
              </a:spcAft>
            </a:pPr>
            <a:r>
              <a:rPr lang="en-US" sz="1250" b="1" dirty="0">
                <a:solidFill>
                  <a:srgbClr val="FFFFFF"/>
                </a:solidFill>
                <a:latin typeface="Montserrat"/>
              </a:rPr>
              <a:t>Functional Clinical Promise</a:t>
            </a:r>
          </a:p>
          <a:p>
            <a:pPr algn="l"/>
            <a:r>
              <a:rPr lang="en-US" sz="850" b="0" dirty="0">
                <a:solidFill>
                  <a:srgbClr val="FFFFFF"/>
                </a:solidFill>
                <a:latin typeface="Montserrat"/>
              </a:rPr>
              <a:t>Pharmacological Performance</a:t>
            </a:r>
          </a:p>
        </p:txBody>
      </p:sp>
      <p:sp>
        <p:nvSpPr>
          <p:cNvPr id="106" name="T2_Card1"/>
          <p:cNvSpPr/>
          <p:nvPr/>
        </p:nvSpPr>
        <p:spPr>
          <a:xfrm>
            <a:off x="2670864" y="2720000"/>
            <a:ext cx="2910090" cy="10600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120000" tIns="100000" rIns="120000" bIns="100000" anchor="t"/>
          <a:lstStyle/>
          <a:p>
            <a:pPr algn="l">
              <a:spcAft>
                <a:spcPts val="150"/>
              </a:spcAft>
            </a:pPr>
            <a:r>
              <a:rPr lang="en-US" sz="800" b="1">
                <a:solidFill>
                  <a:srgbClr val="379131"/>
                </a:solidFill>
                <a:latin typeface="Montserrat"/>
              </a:rPr>
              <a:t>BIOLOGICAL SAFETY</a:t>
            </a:r>
          </a:p>
          <a:p>
            <a:pPr algn="l">
              <a:spcAft>
                <a:spcPts val="200"/>
              </a:spcAft>
            </a:pPr>
            <a:r>
              <a:rPr lang="en-US" sz="1050" b="1">
                <a:solidFill>
                  <a:srgbClr val="2A2A28"/>
                </a:solidFill>
                <a:latin typeface="Montserrat"/>
              </a:rPr>
              <a:t>Zero GI Toxicity (100% Bypass)</a:t>
            </a:r>
          </a:p>
          <a:p>
            <a:pPr algn="l"/>
            <a:r>
              <a:rPr lang="en-US" sz="850" b="0">
                <a:solidFill>
                  <a:srgbClr val="2A2A28"/>
                </a:solidFill>
                <a:latin typeface="Roboto"/>
              </a:rPr>
              <a:t>Direct localized absorption completely bypasses digestive tract; eliminates gastric ulcers and liver/renal strain.</a:t>
            </a:r>
          </a:p>
        </p:txBody>
      </p:sp>
      <p:sp>
        <p:nvSpPr>
          <p:cNvPr id="107" name="T2_Card2"/>
          <p:cNvSpPr/>
          <p:nvPr/>
        </p:nvSpPr>
        <p:spPr>
          <a:xfrm>
            <a:off x="5700954" y="2720000"/>
            <a:ext cx="2910090" cy="106000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120000" tIns="100000" rIns="120000" bIns="100000" anchor="t"/>
          <a:lstStyle/>
          <a:p>
            <a:pPr algn="l">
              <a:spcAft>
                <a:spcPts val="150"/>
              </a:spcAft>
            </a:pPr>
            <a:r>
              <a:rPr lang="en-US" sz="800" b="1">
                <a:solidFill>
                  <a:srgbClr val="F26B43"/>
                </a:solidFill>
                <a:latin typeface="Montserrat"/>
              </a:rPr>
              <a:t>CONTINUOUS DELIVERY</a:t>
            </a:r>
          </a:p>
          <a:p>
            <a:pPr algn="l">
              <a:spcAft>
                <a:spcPts val="200"/>
              </a:spcAft>
            </a:pPr>
            <a:r>
              <a:rPr lang="en-US" sz="1050" b="1">
                <a:solidFill>
                  <a:srgbClr val="2A2A28"/>
                </a:solidFill>
                <a:latin typeface="Montserrat"/>
              </a:rPr>
              <a:t>12-Hour Sustained Zero-Order Release</a:t>
            </a:r>
          </a:p>
          <a:p>
            <a:pPr algn="l"/>
            <a:r>
              <a:rPr lang="en-US" sz="850" b="0">
                <a:solidFill>
                  <a:srgbClr val="2A2A28"/>
                </a:solidFill>
                <a:latin typeface="Roboto"/>
              </a:rPr>
              <a:t>Constant localized transdermal flux straight into inflamed knee, neck, and back joints without dosage spikes.</a:t>
            </a:r>
          </a:p>
        </p:txBody>
      </p:sp>
      <p:sp>
        <p:nvSpPr>
          <p:cNvPr id="108" name="T2_Card3"/>
          <p:cNvSpPr/>
          <p:nvPr/>
        </p:nvSpPr>
        <p:spPr>
          <a:xfrm>
            <a:off x="8731044" y="2720000"/>
            <a:ext cx="2910090" cy="106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txBody>
          <a:bodyPr wrap="square" lIns="120000" tIns="100000" rIns="120000" bIns="100000" anchor="t"/>
          <a:lstStyle/>
          <a:p>
            <a:pPr algn="l">
              <a:spcAft>
                <a:spcPts val="150"/>
              </a:spcAft>
            </a:pPr>
            <a:r>
              <a:rPr lang="en-US" sz="800" b="1">
                <a:solidFill>
                  <a:srgbClr val="0284C7"/>
                </a:solidFill>
                <a:latin typeface="Montserrat"/>
              </a:rPr>
              <a:t>OVERNIGHT FLUX</a:t>
            </a:r>
          </a:p>
          <a:p>
            <a:pPr algn="l">
              <a:spcAft>
                <a:spcPts val="200"/>
              </a:spcAft>
            </a:pPr>
            <a:r>
              <a:rPr lang="en-US" sz="1050" b="1">
                <a:solidFill>
                  <a:srgbClr val="2A2A28"/>
                </a:solidFill>
                <a:latin typeface="Montserrat"/>
              </a:rPr>
              <a:t>Tropical Dermal Adhesion</a:t>
            </a:r>
          </a:p>
          <a:p>
            <a:pPr algn="l"/>
            <a:r>
              <a:rPr lang="en-US" sz="850" b="0">
                <a:solidFill>
                  <a:srgbClr val="2A2A28"/>
                </a:solidFill>
                <a:latin typeface="Roboto"/>
              </a:rPr>
              <a:t>Hypoallergenic micro-porous matrix engineered for high-humidity sweat resistance; adheres securely overnight.</a:t>
            </a:r>
          </a:p>
        </p:txBody>
      </p:sp>
      <p:sp>
        <p:nvSpPr>
          <p:cNvPr id="109" name="Badge_Tier1"/>
          <p:cNvSpPr/>
          <p:nvPr/>
        </p:nvSpPr>
        <p:spPr>
          <a:xfrm>
            <a:off x="550864" y="3920000"/>
            <a:ext cx="2000000" cy="1060000"/>
          </a:xfrm>
          <a:prstGeom prst="roundRect">
            <a:avLst>
              <a:gd name="adj" fmla="val 3000"/>
            </a:avLst>
          </a:prstGeom>
          <a:solidFill>
            <a:srgbClr val="475569"/>
          </a:solidFill>
          <a:ln/>
        </p:spPr>
        <p:txBody>
          <a:bodyPr wrap="square" lIns="120000" tIns="100000" rIns="120000" bIns="100000" anchor="t"/>
          <a:lstStyle/>
          <a:p>
            <a:pPr algn="l">
              <a:spcAft>
                <a:spcPts val="200"/>
              </a:spcAft>
            </a:pPr>
            <a:r>
              <a:rPr lang="en-US" sz="800" b="1">
                <a:solidFill>
                  <a:srgbClr val="FFFFFF"/>
                </a:solidFill>
                <a:latin typeface="Montserrat"/>
              </a:rPr>
              <a:t>TIER 1</a:t>
            </a:r>
          </a:p>
          <a:p>
            <a:pPr algn="l">
              <a:spcAft>
                <a:spcPts val="200"/>
              </a:spcAft>
            </a:pPr>
            <a:r>
              <a:rPr lang="en-US" sz="1250" b="1">
                <a:solidFill>
                  <a:srgbClr val="FFFFFF"/>
                </a:solidFill>
                <a:latin typeface="Montserrat"/>
              </a:rPr>
              <a:t>Physical Attributes</a:t>
            </a:r>
          </a:p>
          <a:p>
            <a:pPr algn="l"/>
            <a:r>
              <a:rPr lang="en-US" sz="850" b="0">
                <a:solidFill>
                  <a:srgbClr val="FFFFFF"/>
                </a:solidFill>
                <a:latin typeface="Montserrat"/>
              </a:rPr>
              <a:t>Formulation &amp; Engineering</a:t>
            </a:r>
          </a:p>
        </p:txBody>
      </p:sp>
      <p:sp>
        <p:nvSpPr>
          <p:cNvPr id="110" name="T1_Card1"/>
          <p:cNvSpPr/>
          <p:nvPr/>
        </p:nvSpPr>
        <p:spPr>
          <a:xfrm>
            <a:off x="2670864" y="3920000"/>
            <a:ext cx="4425136" cy="10600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120000" tIns="100000" rIns="120000" bIns="100000" anchor="t"/>
          <a:lstStyle/>
          <a:p>
            <a:pPr algn="l">
              <a:spcAft>
                <a:spcPts val="150"/>
              </a:spcAft>
            </a:pPr>
            <a:r>
              <a:rPr lang="en-US" sz="800" b="1">
                <a:solidFill>
                  <a:srgbClr val="379131"/>
                </a:solidFill>
                <a:latin typeface="Montserrat"/>
              </a:rPr>
              <a:t>STANDARDIZED PHYTO-ACTIVES</a:t>
            </a:r>
          </a:p>
          <a:p>
            <a:pPr algn="l">
              <a:spcAft>
                <a:spcPts val="200"/>
              </a:spcAft>
            </a:pPr>
            <a:r>
              <a:rPr lang="en-US" sz="1050" b="1">
                <a:solidFill>
                  <a:srgbClr val="2A2A28"/>
                </a:solidFill>
                <a:latin typeface="Montserrat"/>
              </a:rPr>
              <a:t>100% Herbal Active Transdermal Matrix</a:t>
            </a:r>
          </a:p>
          <a:p>
            <a:pPr algn="l"/>
            <a:r>
              <a:rPr lang="en-US" sz="850" b="0">
                <a:solidFill>
                  <a:srgbClr val="2A2A28"/>
                </a:solidFill>
                <a:latin typeface="Roboto"/>
              </a:rPr>
              <a:t>Standardized actives: Gandhpura Oil (natural methyl salicylate), Menthol, Camphor, Eucalyptus, and Clove Oil infused in transdermal polymer.</a:t>
            </a:r>
          </a:p>
        </p:txBody>
      </p:sp>
      <p:sp>
        <p:nvSpPr>
          <p:cNvPr id="111" name="T1_Card2"/>
          <p:cNvSpPr/>
          <p:nvPr/>
        </p:nvSpPr>
        <p:spPr>
          <a:xfrm>
            <a:off x="7216000" y="3920000"/>
            <a:ext cx="4425136" cy="106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txBody>
          <a:bodyPr wrap="square" lIns="120000" tIns="100000" rIns="120000" bIns="100000" anchor="t"/>
          <a:lstStyle/>
          <a:p>
            <a:pPr algn="l">
              <a:spcAft>
                <a:spcPts val="150"/>
              </a:spcAft>
            </a:pPr>
            <a:r>
              <a:rPr lang="en-US" sz="800" b="1">
                <a:solidFill>
                  <a:srgbClr val="0284C7"/>
                </a:solidFill>
                <a:latin typeface="Montserrat"/>
              </a:rPr>
              <a:t>WEARABLE CONVENIENCE</a:t>
            </a:r>
          </a:p>
          <a:p>
            <a:pPr algn="l">
              <a:spcAft>
                <a:spcPts val="200"/>
              </a:spcAft>
            </a:pPr>
            <a:r>
              <a:rPr lang="en-US" sz="1050" b="1">
                <a:solidFill>
                  <a:srgbClr val="2A2A28"/>
                </a:solidFill>
                <a:latin typeface="Montserrat"/>
              </a:rPr>
              <a:t>Ultra-Thin, Non-Greasy &amp; Odor-Locked Patch</a:t>
            </a:r>
          </a:p>
          <a:p>
            <a:pPr algn="l"/>
            <a:r>
              <a:rPr lang="en-US" sz="850" b="0">
                <a:solidFill>
                  <a:srgbClr val="2A2A28"/>
                </a:solidFill>
                <a:latin typeface="Roboto"/>
              </a:rPr>
              <a:t>Clean peel-and-stick application. Flexible breathable weave stretches with joints. Leaves zero balm stains on clothes or bedsheets.</a:t>
            </a:r>
          </a:p>
        </p:txBody>
      </p:sp>
      <p:sp>
        <p:nvSpPr>
          <p:cNvPr id="112" name="Badge_Foundation"/>
          <p:cNvSpPr/>
          <p:nvPr/>
        </p:nvSpPr>
        <p:spPr>
          <a:xfrm>
            <a:off x="550864" y="5120000"/>
            <a:ext cx="2000000" cy="1060000"/>
          </a:xfrm>
          <a:prstGeom prst="roundRect">
            <a:avLst>
              <a:gd name="adj" fmla="val 3000"/>
            </a:avLst>
          </a:prstGeom>
          <a:solidFill>
            <a:srgbClr val="0054A6"/>
          </a:solidFill>
          <a:ln/>
        </p:spPr>
        <p:txBody>
          <a:bodyPr wrap="square" lIns="120000" tIns="100000" rIns="120000" bIns="100000" anchor="t"/>
          <a:lstStyle/>
          <a:p>
            <a:pPr algn="l">
              <a:spcAft>
                <a:spcPts val="200"/>
              </a:spcAft>
            </a:pPr>
            <a:r>
              <a:rPr lang="en-US" sz="800" b="1">
                <a:solidFill>
                  <a:srgbClr val="FFFFFF"/>
                </a:solidFill>
                <a:latin typeface="Montserrat"/>
              </a:rPr>
              <a:t>FOUNDATION</a:t>
            </a:r>
          </a:p>
          <a:p>
            <a:pPr algn="l">
              <a:spcAft>
                <a:spcPts val="200"/>
              </a:spcAft>
            </a:pPr>
            <a:r>
              <a:rPr lang="en-US" sz="1250" b="1">
                <a:solidFill>
                  <a:srgbClr val="FFFFFF"/>
                </a:solidFill>
                <a:latin typeface="Montserrat"/>
              </a:rPr>
              <a:t>50+ Years Manufacturing Rigor</a:t>
            </a:r>
          </a:p>
          <a:p>
            <a:pPr algn="l"/>
            <a:r>
              <a:rPr lang="en-US" sz="850" b="0">
                <a:solidFill>
                  <a:srgbClr val="FFFFFF"/>
                </a:solidFill>
                <a:latin typeface="Montserrat"/>
              </a:rPr>
              <a:t>Unexo Life Sciences (Est. 1972)</a:t>
            </a:r>
          </a:p>
        </p:txBody>
      </p:sp>
      <p:sp>
        <p:nvSpPr>
          <p:cNvPr id="113" name="Foundation_Banner"/>
          <p:cNvSpPr/>
          <p:nvPr/>
        </p:nvSpPr>
        <p:spPr>
          <a:xfrm>
            <a:off x="2670864" y="5120000"/>
            <a:ext cx="8970272" cy="1060000"/>
          </a:xfrm>
          <a:prstGeom prst="roundRect">
            <a:avLst>
              <a:gd name="adj" fmla="val 3000"/>
            </a:avLst>
          </a:prstGeom>
          <a:solidFill>
            <a:srgbClr val="F2F2F7"/>
          </a:solidFill>
          <a:ln w="12700">
            <a:solidFill>
              <a:srgbClr val="E2E8F0"/>
            </a:solidFill>
          </a:ln>
        </p:spPr>
        <p:txBody>
          <a:bodyPr wrap="square" lIns="120000" tIns="100000" rIns="120000" bIns="100000" anchor="t"/>
          <a:lstStyle/>
          <a:p>
            <a:pPr algn="l">
              <a:spcAft>
                <a:spcPts val="150"/>
              </a:spcAft>
            </a:pPr>
            <a:r>
              <a:rPr lang="en-US" sz="800" b="1">
                <a:solidFill>
                  <a:srgbClr val="0054A6"/>
                </a:solidFill>
                <a:latin typeface="Montserrat"/>
              </a:rPr>
              <a:t>PHARMACEUTICAL HERITAGE &amp; INFRASTRUCTURE</a:t>
            </a:r>
          </a:p>
          <a:p>
            <a:pPr algn="l">
              <a:spcAft>
                <a:spcPts val="200"/>
              </a:spcAft>
            </a:pPr>
            <a:r>
              <a:rPr lang="en-US" sz="1100" b="1">
                <a:solidFill>
                  <a:srgbClr val="0054A6"/>
                </a:solidFill>
                <a:latin typeface="Montserrat"/>
              </a:rPr>
              <a:t>Pioneering Transdermal Technology Backed by Vaccine-Grade Cleanroom Rigor</a:t>
            </a:r>
          </a:p>
          <a:p>
            <a:pPr algn="l"/>
            <a:r>
              <a:rPr lang="en-US" sz="850" b="0">
                <a:solidFill>
                  <a:srgbClr val="2A2A28"/>
                </a:solidFill>
                <a:latin typeface="Roboto"/>
              </a:rPr>
              <a:t>Manufactured under US-FDA CFR 21 compliance guidelines, cGMP standards, and ISO Class 8 cleanroom environments. Half a century of sterile pharmaceutical infrastructure backing topical consumer analgesics.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F3F0E-D9F5-1861-A489-E82382CC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ogo_spacing_clearspace_guide.png">
            <a:extLst>
              <a:ext uri="{FF2B5EF4-FFF2-40B4-BE49-F238E27FC236}">
                <a16:creationId xmlns:a16="http://schemas.microsoft.com/office/drawing/2014/main" id="{797CAD3B-9608-10FB-072D-8CB6A0F9E6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6" t="2474" r="2737" b="5444"/>
          <a:stretch>
            <a:fillRect/>
          </a:stretch>
        </p:blipFill>
        <p:spPr>
          <a:xfrm>
            <a:off x="2159000" y="1371600"/>
            <a:ext cx="7874000" cy="34925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054600"/>
            <a:ext cx="2565400" cy="111760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spcAft>
                <a:spcPts val="300"/>
              </a:spcAft>
              <a:defRPr sz="950" b="1">
                <a:solidFill>
                  <a:srgbClr val="0054A6"/>
                </a:solidFill>
                <a:latin typeface="Montserrat"/>
              </a:defRPr>
            </a:pPr>
            <a:r>
              <a:t>1X CLEAR SPACE</a:t>
            </a:r>
          </a:p>
          <a:p>
            <a:pPr>
              <a:spcAft>
                <a:spcPts val="0"/>
              </a:spcAft>
              <a:defRPr sz="850">
                <a:solidFill>
                  <a:srgbClr val="2A2A28"/>
                </a:solidFill>
                <a:latin typeface="Roboto"/>
              </a:defRPr>
            </a:pPr>
            <a:r>
              <a:t>Height of logo (H) exclusion boundary on all 4 sides. No typography, icons, or container borders may intrude.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9320" y="5054600"/>
            <a:ext cx="2565400" cy="111760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spcAft>
                <a:spcPts val="300"/>
              </a:spcAft>
              <a:defRPr sz="950" b="1">
                <a:solidFill>
                  <a:srgbClr val="0054A6"/>
                </a:solidFill>
                <a:latin typeface="Montserrat"/>
              </a:defRPr>
            </a:pPr>
            <a:r>
              <a:t>LOCKED GEOMETRY</a:t>
            </a:r>
          </a:p>
          <a:p>
            <a:pPr>
              <a:spcAft>
                <a:spcPts val="0"/>
              </a:spcAft>
              <a:defRPr sz="850">
                <a:solidFill>
                  <a:srgbClr val="2A2A28"/>
                </a:solidFill>
                <a:latin typeface="Roboto"/>
              </a:defRPr>
            </a:pPr>
            <a:r>
              <a:t>Inviolable 3.7 : 1 aspect ratio. Agency redrawing, horizontal stretching, or vertical squashing is strictly prohibited.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7120" y="5054600"/>
            <a:ext cx="2565400" cy="111760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spcAft>
                <a:spcPts val="300"/>
              </a:spcAft>
              <a:defRPr sz="950" b="1">
                <a:solidFill>
                  <a:srgbClr val="0054A6"/>
                </a:solidFill>
                <a:latin typeface="Montserrat"/>
              </a:defRPr>
            </a:pPr>
            <a:r>
              <a:t>STATUTORY TRADEMARK (®)</a:t>
            </a:r>
          </a:p>
          <a:p>
            <a:pPr>
              <a:spcAft>
                <a:spcPts val="0"/>
              </a:spcAft>
              <a:defRPr sz="850">
                <a:solidFill>
                  <a:srgbClr val="2A2A28"/>
                </a:solidFill>
                <a:latin typeface="Roboto"/>
              </a:defRPr>
            </a:pPr>
            <a:r>
              <a:t>Registered glyph locked at cap-height beside 'H'. Mandatory across all commercial packaging and digital assets.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4920" y="5054600"/>
            <a:ext cx="2565400" cy="111760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pPr algn="ctr">
              <a:spcAft>
                <a:spcPts val="300"/>
              </a:spcAft>
              <a:defRPr sz="950" b="1">
                <a:solidFill>
                  <a:srgbClr val="0054A6"/>
                </a:solidFill>
                <a:latin typeface="Montserrat"/>
              </a:defRPr>
            </a:pPr>
            <a:r>
              <a:t>MINIMUM REPRODUCTION</a:t>
            </a:r>
          </a:p>
          <a:p>
            <a:pPr>
              <a:spcAft>
                <a:spcPts val="0"/>
              </a:spcAft>
              <a:defRPr sz="850">
                <a:solidFill>
                  <a:srgbClr val="2A2A28"/>
                </a:solidFill>
                <a:latin typeface="Roboto"/>
              </a:defRPr>
            </a:pPr>
            <a:r>
              <a:t>Print: 25 mm width | Digital: 120 px width. Minimum reproduction threshold to preserve statutory legal legibility.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9BDFD-DA93-68F8-CF44-F2354262F898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502920"/>
            <a:ext cx="9144000" cy="822960"/>
          </a:xfrm>
        </p:spPr>
        <p:txBody>
          <a:bodyPr wrap="square" anchor="t"/>
          <a:lstStyle/>
          <a:p>
            <a:r>
              <a:rPr lang="en-US" dirty="0"/>
              <a:t>Standardized logo across communication channels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D8DDE-C2E3-B527-14AA-8760D2FEF3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</p:spPr>
        <p:txBody>
          <a:bodyPr anchor="t"/>
          <a:lstStyle/>
          <a:p>
            <a:fld id="{F7021451-1387-4CA6-816F-3879F97B5CB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2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F8D53A-7985-5D96-3DCD-AF0A3BE4D05E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502920"/>
            <a:ext cx="9144000" cy="822960"/>
          </a:xfrm>
        </p:spPr>
        <p:txBody>
          <a:bodyPr wrap="square" anchor="t"/>
          <a:lstStyle/>
          <a:p>
            <a:r>
              <a:rPr lang="en-US"/>
              <a:t>Use only approved logo from authorized source; agency redrawing is prohibited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E968F6-B8A3-1988-72DD-49CDD7C574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</p:spPr>
        <p:txBody>
          <a:bodyPr anchor="t"/>
          <a:lstStyle/>
          <a:p>
            <a:fld id="{F7021451-1387-4CA6-816F-3879F97B5CB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80160" y="1773936"/>
            <a:ext cx="4434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4A6"/>
                </a:solidFill>
                <a:latin typeface="Montserrat"/>
              </a:defRPr>
            </a:pPr>
            <a:r>
              <a:rPr lang="en-US" sz="1200" b="1" dirty="0">
                <a:solidFill>
                  <a:srgbClr val="0054A6"/>
                </a:solidFill>
                <a:latin typeface="Montserrat" panose="00000500000000000000" pitchFamily="2" charset="0"/>
              </a:rPr>
              <a:t>Dark </a:t>
            </a:r>
            <a:r>
              <a:rPr lang="en-US" sz="1200" b="1">
                <a:solidFill>
                  <a:srgbClr val="0054A6"/>
                </a:solidFill>
                <a:latin typeface="Montserrat" panose="00000500000000000000" pitchFamily="2" charset="0"/>
              </a:rPr>
              <a:t>Background Variant</a:t>
            </a:r>
            <a:endParaRPr sz="1200" b="1" dirty="0">
              <a:solidFill>
                <a:srgbClr val="0054A6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0120" y="2359152"/>
            <a:ext cx="4754880" cy="2011680"/>
          </a:xfrm>
          <a:prstGeom prst="rect">
            <a:avLst/>
          </a:prstGeom>
          <a:solidFill>
            <a:srgbClr val="0054A6"/>
          </a:solidFill>
          <a:ln w="12700"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iopatch_logo_dark_t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4297680" cy="1325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4572000"/>
            <a:ext cx="4480560" cy="418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54A6"/>
                </a:solidFill>
                <a:latin typeface="Montserrat"/>
              </a:defRPr>
            </a:pPr>
            <a:r>
              <a:rPr strike="sngStrike" dirty="0">
                <a:solidFill>
                  <a:schemeClr val="accent4"/>
                </a:solidFill>
              </a:rPr>
              <a:t>📦 Master Vector Package (.SVG / .EPS / .AI)</a:t>
            </a:r>
          </a:p>
          <a:p>
            <a:pPr>
              <a:spcBef>
                <a:spcPts val="200"/>
              </a:spcBef>
              <a:defRPr sz="800">
                <a:solidFill>
                  <a:srgbClr val="2A2A28"/>
                </a:solidFill>
                <a:latin typeface="Roboto"/>
              </a:defRPr>
            </a:pPr>
            <a:r>
              <a:rPr dirty="0"/>
              <a:t>Resolution-independent vector assets for commercial packaging converters, offset printers, foil stamping, and environmental signage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6735" y="1773936"/>
            <a:ext cx="4434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4A6"/>
                </a:solidFill>
                <a:latin typeface="Montserrat"/>
              </a:defRPr>
            </a:pPr>
            <a:r>
              <a:rPr lang="en-US" sz="1200" b="1" dirty="0">
                <a:solidFill>
                  <a:srgbClr val="0054A6"/>
                </a:solidFill>
                <a:latin typeface="Montserrat" panose="00000500000000000000" pitchFamily="2" charset="0"/>
              </a:rPr>
              <a:t>Light </a:t>
            </a:r>
            <a:r>
              <a:rPr lang="en-US" sz="1200" b="1">
                <a:solidFill>
                  <a:srgbClr val="0054A6"/>
                </a:solidFill>
                <a:latin typeface="Montserrat" panose="00000500000000000000" pitchFamily="2" charset="0"/>
              </a:rPr>
              <a:t>Background Variant</a:t>
            </a:r>
            <a:endParaRPr sz="1200" b="1" dirty="0">
              <a:solidFill>
                <a:srgbClr val="0054A6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76695" y="2359152"/>
            <a:ext cx="4754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viopatch_logo_light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295" y="2697480"/>
            <a:ext cx="4297680" cy="1325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13855" y="4572000"/>
            <a:ext cx="4480560" cy="72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79131"/>
                </a:solidFill>
                <a:latin typeface="Montserrat"/>
              </a:defRPr>
            </a:pPr>
            <a:r>
              <a:rPr dirty="0"/>
              <a:t>📦 </a:t>
            </a:r>
            <a:r>
              <a:rPr strike="sngStrike" dirty="0">
                <a:solidFill>
                  <a:schemeClr val="accent4"/>
                </a:solidFill>
              </a:rPr>
              <a:t>High-Res Raster Package (.PNG / .JPG - 300 DPI)</a:t>
            </a:r>
          </a:p>
          <a:p>
            <a:pPr>
              <a:spcBef>
                <a:spcPts val="200"/>
              </a:spcBef>
              <a:defRPr sz="800">
                <a:solidFill>
                  <a:srgbClr val="2A2A28"/>
                </a:solidFill>
                <a:latin typeface="Roboto"/>
              </a:defRPr>
            </a:pPr>
            <a:r>
              <a:rPr sz="1200" dirty="0"/>
              <a:t>300 DPI transparent RGBA masters calibrated for e-commerce marketplaces (Amazon, Flipkart), corporate web CMS, partner portals, and mobile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31520" y="1645920"/>
            <a:ext cx="24871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926080" y="1719072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✕</a:t>
            </a:r>
          </a:p>
        </p:txBody>
      </p:sp>
      <p:pic>
        <p:nvPicPr>
          <p:cNvPr id="7" name="Picture 6" descr="proh_1_dist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847088"/>
            <a:ext cx="20116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60604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  <a:latin typeface="Montserrat"/>
              </a:defRPr>
            </a:pPr>
            <a:r>
              <a:t>1. Do Not Distort</a:t>
            </a:r>
          </a:p>
          <a:p>
            <a:pPr>
              <a:defRPr sz="780">
                <a:solidFill>
                  <a:srgbClr val="2A2A28"/>
                </a:solidFill>
                <a:latin typeface="Roboto"/>
              </a:defRPr>
            </a:pPr>
            <a:r>
              <a:t>Never stretch or squash. The 3.7:1 aspect ratio must remain permanently locked across all media.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4871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9280" y="1719072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✕</a:t>
            </a:r>
          </a:p>
        </p:txBody>
      </p:sp>
      <p:pic>
        <p:nvPicPr>
          <p:cNvPr id="11" name="Picture 10" descr="proh_2_re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1847088"/>
            <a:ext cx="20116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1880" y="260604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  <a:latin typeface="Montserrat"/>
              </a:defRPr>
            </a:pPr>
            <a:r>
              <a:t>2. Do Not Recolor</a:t>
            </a:r>
          </a:p>
          <a:p>
            <a:pPr>
              <a:defRPr sz="780">
                <a:solidFill>
                  <a:srgbClr val="2A2A28"/>
                </a:solidFill>
                <a:latin typeface="Roboto"/>
              </a:defRPr>
            </a:pPr>
            <a:r>
              <a:t>Never alter brand hues. 'VIO' is strictly Skin (#FDCD8B) and 'PATCH' is strictly Blue (#0054A6) on light backgrounds, or White (#FFFFFF) on dark backgrounds.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4871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0" y="1719072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✕</a:t>
            </a:r>
          </a:p>
        </p:txBody>
      </p:sp>
      <p:pic>
        <p:nvPicPr>
          <p:cNvPr id="15" name="Picture 14" descr="proh_3_ou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847088"/>
            <a:ext cx="2011680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5080" y="260604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  <a:latin typeface="Montserrat"/>
              </a:defRPr>
            </a:pPr>
            <a:r>
              <a:t>3. Do Not Outline</a:t>
            </a:r>
          </a:p>
          <a:p>
            <a:pPr>
              <a:defRPr sz="780">
                <a:solidFill>
                  <a:srgbClr val="2A2A28"/>
                </a:solidFill>
                <a:latin typeface="Roboto"/>
              </a:defRPr>
            </a:pPr>
            <a:r>
              <a:t>Never stroke or outline letterforms (IBM Rule). Letterforms must always be solid vector fills.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4871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55680" y="1719072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✕</a:t>
            </a:r>
          </a:p>
        </p:txBody>
      </p:sp>
      <p:pic>
        <p:nvPicPr>
          <p:cNvPr id="19" name="Picture 18" descr="proh_4_shad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4" y="1847088"/>
            <a:ext cx="2011680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98280" y="260604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  <a:latin typeface="Montserrat"/>
              </a:defRPr>
            </a:pPr>
            <a:r>
              <a:t>4. Do Not Add Shadows</a:t>
            </a:r>
          </a:p>
          <a:p>
            <a:pPr>
              <a:defRPr sz="780">
                <a:solidFill>
                  <a:srgbClr val="2A2A28"/>
                </a:solidFill>
                <a:latin typeface="Roboto"/>
              </a:defRPr>
            </a:pPr>
            <a:r>
              <a:t>Never apply drop shadows, glows, bevels, or 3D extrusions (Uber Rule). Wordmark must remain crisp &amp; flat.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69080"/>
            <a:ext cx="24871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926080" y="4142232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✕</a:t>
            </a:r>
          </a:p>
        </p:txBody>
      </p:sp>
      <p:pic>
        <p:nvPicPr>
          <p:cNvPr id="23" name="Picture 22" descr="proh_5_no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270248"/>
            <a:ext cx="2011680" cy="640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502920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  <a:latin typeface="Montserrat"/>
              </a:defRPr>
            </a:pPr>
            <a:r>
              <a:t>5. Do Not Omit ®</a:t>
            </a:r>
          </a:p>
          <a:p>
            <a:pPr>
              <a:defRPr sz="780">
                <a:solidFill>
                  <a:srgbClr val="2A2A28"/>
                </a:solidFill>
                <a:latin typeface="Roboto"/>
              </a:defRPr>
            </a:pPr>
            <a:r>
              <a:t>Never omit or relocate statutory trademark (®). The glyph is legally mandatory at cap-height beside 'H'.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069080"/>
            <a:ext cx="24871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69280" y="4142232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✕</a:t>
            </a:r>
          </a:p>
        </p:txBody>
      </p:sp>
      <p:pic>
        <p:nvPicPr>
          <p:cNvPr id="27" name="Picture 26" descr="proh_6_rot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464" y="4270248"/>
            <a:ext cx="2011680" cy="640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11880" y="502920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  <a:latin typeface="Montserrat"/>
              </a:defRPr>
            </a:pPr>
            <a:r>
              <a:t>6. Do Not Rotate or Tilt</a:t>
            </a:r>
          </a:p>
          <a:p>
            <a:pPr>
              <a:defRPr sz="780">
                <a:solidFill>
                  <a:srgbClr val="2A2A28"/>
                </a:solidFill>
                <a:latin typeface="Roboto"/>
              </a:defRPr>
            </a:pPr>
            <a:r>
              <a:t>Never rotate or place the logotype on an angle or diagonal layout (Uber Rule). Always align horizontally.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069080"/>
            <a:ext cx="24871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12480" y="4142232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✕</a:t>
            </a:r>
          </a:p>
        </p:txBody>
      </p:sp>
      <p:pic>
        <p:nvPicPr>
          <p:cNvPr id="31" name="Picture 30" descr="proh_7_tight_bo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4270248"/>
            <a:ext cx="2011680" cy="6400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55080" y="502920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  <a:latin typeface="Montserrat"/>
              </a:defRPr>
            </a:pPr>
            <a:r>
              <a:t>7. Do Not Violate Spacing</a:t>
            </a:r>
          </a:p>
          <a:p>
            <a:pPr>
              <a:defRPr sz="780">
                <a:solidFill>
                  <a:srgbClr val="2A2A28"/>
                </a:solidFill>
                <a:latin typeface="Roboto"/>
              </a:defRPr>
            </a:pPr>
            <a:r>
              <a:t>Never crowd inside tight borders or containers (IBM Rule). Maintain the inviolable 1X clear space boundary.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069080"/>
            <a:ext cx="24871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155680" y="4142232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✕</a:t>
            </a:r>
          </a:p>
        </p:txBody>
      </p:sp>
      <p:pic>
        <p:nvPicPr>
          <p:cNvPr id="35" name="Picture 34" descr="proh_8_low_contra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8864" y="4270248"/>
            <a:ext cx="2011680" cy="6400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98280" y="502920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  <a:latin typeface="Montserrat"/>
              </a:defRPr>
            </a:pPr>
            <a:r>
              <a:t>8. Do Not Use Low Contrast</a:t>
            </a:r>
          </a:p>
          <a:p>
            <a:pPr>
              <a:defRPr sz="780">
                <a:solidFill>
                  <a:srgbClr val="2A2A28"/>
                </a:solidFill>
                <a:latin typeface="Roboto"/>
              </a:defRPr>
            </a:pPr>
            <a:r>
              <a:t>Never place the blue wordmark on dark navy or busy backgrounds (Uber Rule). Use the white-text variant on dark.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CD14E-DCB4-CC11-16D3-2191A14DC84E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502920"/>
            <a:ext cx="9144000" cy="822960"/>
          </a:xfrm>
        </p:spPr>
        <p:txBody>
          <a:bodyPr wrap="square" anchor="t"/>
          <a:lstStyle/>
          <a:p>
            <a:r>
              <a:rPr lang="en-US" dirty="0"/>
              <a:t>Incorrect usage of </a:t>
            </a:r>
            <a:r>
              <a:rPr lang="en-US" dirty="0" err="1"/>
              <a:t>Viopatch</a:t>
            </a:r>
            <a:r>
              <a:rPr lang="en-US" dirty="0"/>
              <a:t> brand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B81A4D-54B9-7B46-AEAB-F9D4F3D573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</p:spPr>
        <p:txBody>
          <a:bodyPr anchor="t"/>
          <a:lstStyle/>
          <a:p>
            <a:fld id="{F7021451-1387-4CA6-816F-3879F97B5CB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1306-234B-16BD-2E1A-28A9F95B6B19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502920"/>
            <a:ext cx="9144000" cy="822960"/>
          </a:xfrm>
        </p:spPr>
        <p:txBody>
          <a:bodyPr wrap="square" anchor="t"/>
          <a:lstStyle/>
          <a:p>
            <a:r>
              <a:rPr lang="en-US" dirty="0"/>
              <a:t>Use only approved brand color palette across communication channels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9724B-EEFD-4CD2-105D-240FE0C349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</p:spPr>
        <p:txBody>
          <a:bodyPr anchor="t"/>
          <a:lstStyle/>
          <a:p>
            <a:fld id="{F7021451-1387-4CA6-816F-3879F97B5CBC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FE5D5E-2302-0D80-49B2-CF87E9CC5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18301"/>
              </p:ext>
            </p:extLst>
          </p:nvPr>
        </p:nvGraphicFramePr>
        <p:xfrm>
          <a:off x="550863" y="1867830"/>
          <a:ext cx="11090277" cy="4291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877">
                  <a:extLst>
                    <a:ext uri="{9D8B030D-6E8A-4147-A177-3AD203B41FA5}">
                      <a16:colId xmlns:a16="http://schemas.microsoft.com/office/drawing/2014/main" val="370614172"/>
                    </a:ext>
                  </a:extLst>
                </a:gridCol>
                <a:gridCol w="722024">
                  <a:extLst>
                    <a:ext uri="{9D8B030D-6E8A-4147-A177-3AD203B41FA5}">
                      <a16:colId xmlns:a16="http://schemas.microsoft.com/office/drawing/2014/main" val="767516106"/>
                    </a:ext>
                  </a:extLst>
                </a:gridCol>
                <a:gridCol w="984577">
                  <a:extLst>
                    <a:ext uri="{9D8B030D-6E8A-4147-A177-3AD203B41FA5}">
                      <a16:colId xmlns:a16="http://schemas.microsoft.com/office/drawing/2014/main" val="3543218394"/>
                    </a:ext>
                  </a:extLst>
                </a:gridCol>
                <a:gridCol w="1247131">
                  <a:extLst>
                    <a:ext uri="{9D8B030D-6E8A-4147-A177-3AD203B41FA5}">
                      <a16:colId xmlns:a16="http://schemas.microsoft.com/office/drawing/2014/main" val="143651653"/>
                    </a:ext>
                  </a:extLst>
                </a:gridCol>
                <a:gridCol w="1509685">
                  <a:extLst>
                    <a:ext uri="{9D8B030D-6E8A-4147-A177-3AD203B41FA5}">
                      <a16:colId xmlns:a16="http://schemas.microsoft.com/office/drawing/2014/main" val="61909047"/>
                    </a:ext>
                  </a:extLst>
                </a:gridCol>
                <a:gridCol w="4788983">
                  <a:extLst>
                    <a:ext uri="{9D8B030D-6E8A-4147-A177-3AD203B41FA5}">
                      <a16:colId xmlns:a16="http://schemas.microsoft.com/office/drawing/2014/main" val="2074905403"/>
                    </a:ext>
                  </a:extLst>
                </a:gridCol>
              </a:tblGrid>
              <a:tr h="611598">
                <a:tc>
                  <a:txBody>
                    <a:bodyPr/>
                    <a:lstStyle/>
                    <a:p>
                      <a:pPr algn="l"/>
                      <a:r>
                        <a:rPr lang="en-IN" sz="950" b="1" dirty="0" err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Color</a:t>
                      </a:r>
                      <a:r>
                        <a:rPr lang="en-IN" sz="950" b="1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 Name</a:t>
                      </a:r>
                    </a:p>
                  </a:txBody>
                  <a:tcPr anchor="ctr"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Swatch</a:t>
                      </a:r>
                    </a:p>
                  </a:txBody>
                  <a:tcPr anchor="ctr"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HEX</a:t>
                      </a:r>
                    </a:p>
                  </a:txBody>
                  <a:tcPr anchor="ctr"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RGB</a:t>
                      </a:r>
                    </a:p>
                  </a:txBody>
                  <a:tcPr anchor="ctr"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CMYK / Pantone</a:t>
                      </a:r>
                    </a:p>
                  </a:txBody>
                  <a:tcPr anchor="ctr"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Suggested Usage</a:t>
                      </a:r>
                    </a:p>
                  </a:txBody>
                  <a:tcPr anchor="ctr">
                    <a:solidFill>
                      <a:srgbClr val="00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001338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54A6"/>
                          </a:solidFill>
                        </a:rPr>
                        <a:t>Viopatch Cool Blue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#0054A6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A2A28"/>
                          </a:solidFill>
                        </a:rPr>
                        <a:t>0, 84, 166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100, 65, 0, 5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PMS 2145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Primary Brand Standard. Wordmark 'PATCH', primary packaging headers, CTA buttons, authoritative badges, and commercial print ink.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89289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Viopatch Dermal Yellow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DCD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#FDCD8B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A2A28"/>
                          </a:solidFill>
                        </a:rPr>
                        <a:t>253, 205, 139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0, 22, 50, 0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PMS 1345 C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Secondary Brand Identity. Wordmark 'VIO', physical transdermal patch fabric shade, breathable dermal warmth, and patient touchpoints.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77930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Viopatch Herbal Green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3791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#379131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A2A28"/>
                          </a:solidFill>
                        </a:rPr>
                        <a:t>55, 145, 49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75, 0, 100, 0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PMS 361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Botanical Reassurance. 100% Herbal leaf badge, active Ayurvedic ingredient claims (Gandhpura, Clove), therapeutic wellness accents.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299245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Viopatch Thermal Orange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26B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#F26B43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A2A28"/>
                          </a:solidFill>
                        </a:rPr>
                        <a:t>242, 107, 67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0, 70, 75, 0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PMS 1655 C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Therapeutic Pain Zone. Anatomical heat gradients, localized pain epicenter illustrations, active delivery burst, and thermal callouts.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880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2A2A28"/>
                          </a:solidFill>
                        </a:rPr>
                        <a:t>Viopatch</a:t>
                      </a:r>
                      <a:r>
                        <a:rPr sz="900" b="1" dirty="0">
                          <a:solidFill>
                            <a:srgbClr val="2A2A28"/>
                          </a:solidFill>
                        </a:rPr>
                        <a:t> Menthol Frost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#0284C7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A2A28"/>
                          </a:solidFill>
                        </a:rPr>
                        <a:t>2, 132, 199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85, 35, 0, 0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PMS 2995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Cryo-Relief &amp; Soothing. Menthol &amp; Camphor cooling sensation, hydrogel matrix technology callouts, and transdermal penetration diagrams.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556198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Viopatch Clinical Slate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#475569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A2A28"/>
                          </a:solidFill>
                        </a:rPr>
                        <a:t>71, 85, 105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70, 50, 35, 20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PMS 7545 C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Structural Neutral &amp; Headings. Clinical architecture, data tables, structural dividers, technical borders, secondary captions, and subtitles.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94486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Viopatch Statutory Charcoal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2A2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#2A2A28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A2A28"/>
                          </a:solidFill>
                        </a:rPr>
                        <a:t>42, 42, 40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65, 55, 60, 45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Neutral Dark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Canonical Body Copy. High-density drug facts, composition formulas, statutory packaging legal panels, and technical specifications.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47846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Viopatch Hospital Calm Grey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2A28"/>
                          </a:solidFill>
                        </a:rPr>
                        <a:t>#F2F2F7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A2A28"/>
                          </a:solidFill>
                        </a:rPr>
                        <a:t>242, 242, 247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2, 2, 0, 3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A2A28"/>
                          </a:solidFill>
                        </a:rPr>
                        <a:t>Neutral Light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2A2A28"/>
                          </a:solidFill>
                        </a:rPr>
                        <a:t>Interface &amp; Surface. Hospital-grade card backings, alternating table row shading, modern callout containers, and clean sterile backdrops.</a:t>
                      </a:r>
                    </a:p>
                  </a:txBody>
                  <a:tcPr anchor="ctr"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08645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E39C7B3-8B59-7A01-6359-90541D755703}"/>
              </a:ext>
            </a:extLst>
          </p:cNvPr>
          <p:cNvSpPr txBox="1"/>
          <p:nvPr/>
        </p:nvSpPr>
        <p:spPr>
          <a:xfrm>
            <a:off x="550864" y="1520825"/>
            <a:ext cx="914400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Roboto"/>
              </a:defRPr>
            </a:pPr>
            <a:r>
              <a:rPr lang="en-IN" sz="950" dirty="0">
                <a:solidFill>
                  <a:srgbClr val="475569"/>
                </a:solidFill>
                <a:latin typeface="Roboto" panose="02000000000000000000" pitchFamily="2" charset="0"/>
              </a:rPr>
              <a:t>Non-exhaustive: corporate communication, letterheads, emails, e-commerce platforms, offset printing, physical packaging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0864" y="1520825"/>
            <a:ext cx="914400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Roboto"/>
              </a:defRPr>
            </a:pPr>
            <a:r>
              <a:rPr lang="en-IN" dirty="0"/>
              <a:t>Non-exhaustive: </a:t>
            </a:r>
            <a:r>
              <a:rPr dirty="0"/>
              <a:t>physical packaging</a:t>
            </a:r>
            <a:r>
              <a:rPr lang="en-IN" dirty="0"/>
              <a:t>,</a:t>
            </a:r>
            <a:r>
              <a:rPr dirty="0"/>
              <a:t> tooling, folding carton lithography, and statutory drug facts regulatory standards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714884"/>
              </p:ext>
            </p:extLst>
          </p:nvPr>
        </p:nvGraphicFramePr>
        <p:xfrm>
          <a:off x="550864" y="1861964"/>
          <a:ext cx="11090274" cy="42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8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8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7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347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Font Family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Visual Specimen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Packaging Role &amp; Hierarchy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Foundry &amp; Licensing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Technical Specifications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7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054A6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rgbClr val="0054A6"/>
                          </a:solidFill>
                        </a:rPr>
                        <a:t>Futura Bold Condensed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54A6"/>
                          </a:solidFill>
                          <a:latin typeface="Futura"/>
                        </a:defRPr>
                      </a:pPr>
                      <a:r>
                        <a:rPr dirty="0"/>
                        <a:t>VIOPATCH KNEE PAIN RELIEF • 12-HOUR RELIEF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A2A28"/>
                          </a:solidFill>
                          <a:latin typeface="Montserrat"/>
                        </a:defRPr>
                      </a:pPr>
                      <a:r>
                        <a:t>Primary SKU Headlines &amp;</a:t>
                      </a:r>
                      <a:br/>
                      <a:r>
                        <a:t>Product Variant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  <a:latin typeface="Roboto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Commercial Foundry License</a:t>
                      </a:r>
                      <a:br>
                        <a:rPr dirty="0">
                          <a:solidFill>
                            <a:srgbClr val="FF0000"/>
                          </a:solidFill>
                        </a:rPr>
                      </a:br>
                      <a:r>
                        <a:rPr dirty="0">
                          <a:solidFill>
                            <a:srgbClr val="FF0000"/>
                          </a:solidFill>
                        </a:rPr>
                        <a:t>(Linotype / Monotype)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  <a:latin typeface="Roboto"/>
                        </a:defRPr>
                      </a:pPr>
                      <a:r>
                        <a:t>All Caps • Condensed Proportions</a:t>
                      </a:r>
                      <a:br/>
                      <a:r>
                        <a:t>Maximum Retail Shelf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7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054A6"/>
                          </a:solidFill>
                          <a:latin typeface="Montserrat"/>
                        </a:defRPr>
                      </a:pPr>
                      <a:r>
                        <a:rPr dirty="0">
                          <a:solidFill>
                            <a:srgbClr val="0054A6"/>
                          </a:solidFill>
                        </a:rPr>
                        <a:t>Century Gothic Bold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054A6"/>
                          </a:solidFill>
                          <a:latin typeface="Century Gothic"/>
                        </a:defRPr>
                      </a:pPr>
                      <a:r>
                        <a:t>Herbal Formula • Ayurvedic Topical Pain Treatment</a:t>
                      </a:r>
                      <a:br/>
                      <a:r>
                        <a:t>Non-Messy • Non-Greasy • Breathable Micro-Porous Fabric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A2A28"/>
                          </a:solidFill>
                          <a:latin typeface="Montserrat"/>
                        </a:defRPr>
                      </a:pPr>
                      <a:r>
                        <a:t>Sub-Brand Descriptors &amp;</a:t>
                      </a:r>
                      <a:br/>
                      <a:r>
                        <a:t>Core Therapeutic Claims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  <a:latin typeface="Roboto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Commercial Foundry License</a:t>
                      </a:r>
                      <a:br>
                        <a:rPr dirty="0">
                          <a:solidFill>
                            <a:srgbClr val="FF0000"/>
                          </a:solidFill>
                        </a:rPr>
                      </a:br>
                      <a:r>
                        <a:rPr dirty="0">
                          <a:solidFill>
                            <a:srgbClr val="FF0000"/>
                          </a:solidFill>
                        </a:rPr>
                        <a:t>(Monotype)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  <a:latin typeface="Roboto"/>
                        </a:defRPr>
                      </a:pPr>
                      <a:r>
                        <a:t>Title Case • Geometric Sans</a:t>
                      </a:r>
                      <a:br/>
                      <a:r>
                        <a:t>High Contrast Shelf Legibility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7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054A6"/>
                          </a:solidFill>
                          <a:latin typeface="Montserrat"/>
                        </a:defRPr>
                      </a:pPr>
                      <a:r>
                        <a:rPr dirty="0">
                          <a:solidFill>
                            <a:srgbClr val="0054A6"/>
                          </a:solidFill>
                        </a:rPr>
                        <a:t>Arial Narrow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54A6"/>
                          </a:solidFill>
                          <a:latin typeface="Arial Narrow"/>
                        </a:defRPr>
                      </a:pPr>
                      <a:r>
                        <a:rPr dirty="0"/>
                        <a:t>COMPOSITION: </a:t>
                      </a:r>
                      <a:r>
                        <a:rPr dirty="0" err="1"/>
                        <a:t>Gandhpura</a:t>
                      </a:r>
                      <a:r>
                        <a:rPr dirty="0"/>
                        <a:t> Taila 10% w/w, Menthol 5% w/w, Camphor 3% w/w</a:t>
                      </a:r>
                      <a:br>
                        <a:rPr dirty="0"/>
                      </a:br>
                      <a:r>
                        <a:rPr dirty="0" err="1"/>
                        <a:t>Mfg</a:t>
                      </a:r>
                      <a:r>
                        <a:rPr dirty="0"/>
                        <a:t> Lic. No. DL-1972-AYUR • Store below 25°C • Keep out of reach of children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A2A28"/>
                          </a:solidFill>
                          <a:latin typeface="Montserrat"/>
                        </a:defRPr>
                      </a:pPr>
                      <a:r>
                        <a:t>Statutory Regulatory Panel,</a:t>
                      </a:r>
                      <a:br/>
                      <a:r>
                        <a:t>Drug Facts &amp; Legal Declarations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  <a:latin typeface="Roboto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System Pre-Installed</a:t>
                      </a:r>
                      <a:br>
                        <a:rPr dirty="0">
                          <a:solidFill>
                            <a:srgbClr val="FF0000"/>
                          </a:solidFill>
                        </a:rPr>
                      </a:br>
                      <a:r>
                        <a:rPr dirty="0">
                          <a:solidFill>
                            <a:srgbClr val="FF0000"/>
                          </a:solidFill>
                        </a:rPr>
                        <a:t>(Universal Packaging Standard)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  <a:latin typeface="Roboto"/>
                        </a:defRPr>
                      </a:pPr>
                      <a:r>
                        <a:t>High Information Density</a:t>
                      </a:r>
                      <a:br/>
                      <a:r>
                        <a:t>Compliant Statutory Clarity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7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054A6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rgbClr val="0054A6"/>
                          </a:solidFill>
                        </a:rPr>
                        <a:t>OCR-B 10 Pitch BT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054A6"/>
                          </a:solidFill>
                          <a:latin typeface="Consolas"/>
                        </a:defRPr>
                      </a:pPr>
                      <a:r>
                        <a:rPr dirty="0"/>
                        <a:t>8 906020 150012   |   BATCH: VP-2026-09   |   EXP: 08/2029</a:t>
                      </a:r>
                      <a:br>
                        <a:rPr dirty="0"/>
                      </a:br>
                      <a:r>
                        <a:rPr dirty="0"/>
                        <a:t>GS1 standard optical characters calibrated for automated packaging scanners.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A2A28"/>
                          </a:solidFill>
                          <a:latin typeface="Montserrat"/>
                        </a:defRPr>
                      </a:pPr>
                      <a:r>
                        <a:rPr dirty="0"/>
                        <a:t>Machine-Readable Barcodes,</a:t>
                      </a:r>
                      <a:br>
                        <a:rPr dirty="0"/>
                      </a:br>
                      <a:r>
                        <a:rPr dirty="0"/>
                        <a:t>Batch Numbers &amp; Expiry Stamps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  <a:latin typeface="Roboto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GS1 Standard Optical Font</a:t>
                      </a:r>
                      <a:br>
                        <a:rPr dirty="0">
                          <a:solidFill>
                            <a:srgbClr val="FF0000"/>
                          </a:solidFill>
                        </a:rPr>
                      </a:br>
                      <a:r>
                        <a:rPr dirty="0">
                          <a:solidFill>
                            <a:srgbClr val="FF0000"/>
                          </a:solidFill>
                        </a:rPr>
                        <a:t>(Pre-Calibrated Packaging Lines)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  <a:latin typeface="Roboto"/>
                        </a:defRPr>
                      </a:pPr>
                      <a:r>
                        <a:rPr dirty="0"/>
                        <a:t>Monospace Optical Characters</a:t>
                      </a:r>
                      <a:br>
                        <a:rPr dirty="0"/>
                      </a:br>
                      <a:r>
                        <a:rPr dirty="0"/>
                        <a:t>100% Automated Scanning Accuracy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BC32813-1022-8E2E-F470-FAC685C61190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502920"/>
            <a:ext cx="9144000" cy="822960"/>
          </a:xfrm>
        </p:spPr>
        <p:txBody>
          <a:bodyPr wrap="square" anchor="t"/>
          <a:lstStyle/>
          <a:p>
            <a:r>
              <a:rPr lang="en-IN" dirty="0"/>
              <a:t>Typography: Industrial Print Packaging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DAF4A-6B04-B3CD-7EC9-9D4EAD17D0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</p:spPr>
        <p:txBody>
          <a:bodyPr anchor="t"/>
          <a:lstStyle/>
          <a:p>
            <a:fld id="{F7021451-1387-4CA6-816F-3879F97B5CB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80BE-EC7E-F775-976E-A6960D47345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502920"/>
            <a:ext cx="9144000" cy="822960"/>
          </a:xfrm>
        </p:spPr>
        <p:txBody>
          <a:bodyPr wrap="square" anchor="t"/>
          <a:lstStyle/>
          <a:p>
            <a:r>
              <a:rPr lang="en-US" dirty="0"/>
              <a:t>Typography: Digital, Web &amp; Marketing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29D0E-FC9A-60BE-5109-8295D91E0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</p:spPr>
        <p:txBody>
          <a:bodyPr anchor="t"/>
          <a:lstStyle/>
          <a:p>
            <a:fld id="{F7021451-1387-4CA6-816F-3879F97B5CBC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E85B27-1C1E-4C8E-8D71-609439D7E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190615"/>
              </p:ext>
            </p:extLst>
          </p:nvPr>
        </p:nvGraphicFramePr>
        <p:xfrm>
          <a:off x="550864" y="1861964"/>
          <a:ext cx="11090274" cy="4207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963">
                  <a:extLst>
                    <a:ext uri="{9D8B030D-6E8A-4147-A177-3AD203B41FA5}">
                      <a16:colId xmlns:a16="http://schemas.microsoft.com/office/drawing/2014/main" val="2790961809"/>
                    </a:ext>
                  </a:extLst>
                </a:gridCol>
                <a:gridCol w="3308273">
                  <a:extLst>
                    <a:ext uri="{9D8B030D-6E8A-4147-A177-3AD203B41FA5}">
                      <a16:colId xmlns:a16="http://schemas.microsoft.com/office/drawing/2014/main" val="3129860207"/>
                    </a:ext>
                  </a:extLst>
                </a:gridCol>
                <a:gridCol w="2268530">
                  <a:extLst>
                    <a:ext uri="{9D8B030D-6E8A-4147-A177-3AD203B41FA5}">
                      <a16:colId xmlns:a16="http://schemas.microsoft.com/office/drawing/2014/main" val="4135261274"/>
                    </a:ext>
                  </a:extLst>
                </a:gridCol>
                <a:gridCol w="1701397">
                  <a:extLst>
                    <a:ext uri="{9D8B030D-6E8A-4147-A177-3AD203B41FA5}">
                      <a16:colId xmlns:a16="http://schemas.microsoft.com/office/drawing/2014/main" val="2211161164"/>
                    </a:ext>
                  </a:extLst>
                </a:gridCol>
                <a:gridCol w="1827111">
                  <a:extLst>
                    <a:ext uri="{9D8B030D-6E8A-4147-A177-3AD203B41FA5}">
                      <a16:colId xmlns:a16="http://schemas.microsoft.com/office/drawing/2014/main" val="178780487"/>
                    </a:ext>
                  </a:extLst>
                </a:gridCol>
              </a:tblGrid>
              <a:tr h="799717">
                <a:tc>
                  <a:txBody>
                    <a:bodyPr/>
                    <a:lstStyle/>
                    <a:p>
                      <a:r>
                        <a:rPr lang="en-IN" sz="950" b="1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Font Family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1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Visual Specimen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1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Digital Hierarchy &amp; Role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1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Approved Weights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1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Google Fonts Download URL</a:t>
                      </a:r>
                    </a:p>
                  </a:txBody>
                  <a:tcPr>
                    <a:solidFill>
                      <a:srgbClr val="00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22521"/>
                  </a:ext>
                </a:extLst>
              </a:tr>
              <a:tr h="1136075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0054A6"/>
                          </a:solidFill>
                          <a:latin typeface="Montserrat" panose="00000500000000000000" pitchFamily="2" charset="0"/>
                        </a:rPr>
                        <a:t>Barlow Condensed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0054A6"/>
                          </a:solidFill>
                          <a:latin typeface="Barlow Condensed" panose="00000506000000000000" pitchFamily="2" charset="0"/>
                        </a:rPr>
                        <a:t>TARGETED DEEP TISSUE TRANSDERMAL RELIEF
ABCDEFGHIJKLMNOPQRSTUVWXYZ • 0123456789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2A2A28"/>
                          </a:solidFill>
                          <a:latin typeface="Montserrat" panose="00000500000000000000" pitchFamily="2" charset="0"/>
                        </a:rPr>
                        <a:t>Digital Display H1, Hero Banners, E-Commerce Headers &amp; Campaign Ads</a:t>
                      </a:r>
                      <a:endParaRPr lang="en-IN" sz="850" b="0">
                        <a:solidFill>
                          <a:srgbClr val="2A2A28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2A2A28"/>
                          </a:solidFill>
                          <a:latin typeface="Roboto" panose="02000000000000000000" pitchFamily="2" charset="0"/>
                        </a:rPr>
                        <a:t>Bold (700)
SemiBold (600)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800" u="sng">
                          <a:solidFill>
                            <a:srgbClr val="0054A6"/>
                          </a:solidFill>
                          <a:latin typeface="Roboto" panose="02000000000000000000" pitchFamily="2" charset="0"/>
                        </a:rPr>
                        <a:t>fonts.google.com/specimen/Barlow+Condensed</a:t>
                      </a:r>
                      <a:endParaRPr lang="en-IN" sz="800" u="sng">
                        <a:solidFill>
                          <a:srgbClr val="0054A6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675690"/>
                  </a:ext>
                </a:extLst>
              </a:tr>
              <a:tr h="1136075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0054A6"/>
                          </a:solidFill>
                          <a:latin typeface="Montserrat" panose="00000500000000000000" pitchFamily="2" charset="0"/>
                        </a:rPr>
                        <a:t>Montserrat</a:t>
                      </a:r>
                    </a:p>
                  </a:txBody>
                  <a:tcPr marL="76200" marR="76200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054A6"/>
                          </a:solidFill>
                          <a:latin typeface="Montserrat" panose="00000500000000000000" pitchFamily="2" charset="0"/>
                        </a:rPr>
                        <a:t>Executive Presentations &amp; Section Design Architecture
Geometric clarity optimized for pitch decks and digital collateral</a:t>
                      </a:r>
                      <a:endParaRPr lang="en-IN" sz="1050" b="1">
                        <a:solidFill>
                          <a:srgbClr val="0054A6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76200" marR="76200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2A2A28"/>
                          </a:solidFill>
                          <a:latin typeface="Montserrat" panose="00000500000000000000" pitchFamily="2" charset="0"/>
                        </a:rPr>
                        <a:t>Corporate Pitch Decks, Section Titles, Card Sub-heads &amp; Identity Emblems</a:t>
                      </a:r>
                      <a:endParaRPr lang="en-IN" sz="850" b="0">
                        <a:solidFill>
                          <a:srgbClr val="2A2A28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76200" marR="76200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2A2A28"/>
                          </a:solidFill>
                          <a:latin typeface="Roboto" panose="02000000000000000000" pitchFamily="2" charset="0"/>
                        </a:rPr>
                        <a:t>Bold (700)
Medium (500)</a:t>
                      </a:r>
                    </a:p>
                  </a:txBody>
                  <a:tcPr marL="76200" marR="76200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00" u="sng">
                          <a:solidFill>
                            <a:srgbClr val="0054A6"/>
                          </a:solidFill>
                          <a:latin typeface="Roboto" panose="02000000000000000000" pitchFamily="2" charset="0"/>
                        </a:rPr>
                        <a:t>fonts.google.com/specimen/Montserrat</a:t>
                      </a:r>
                    </a:p>
                  </a:txBody>
                  <a:tcPr marL="76200" marR="76200" anchor="ctr"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426997"/>
                  </a:ext>
                </a:extLst>
              </a:tr>
              <a:tr h="1136075">
                <a:tc>
                  <a:txBody>
                    <a:bodyPr/>
                    <a:lstStyle/>
                    <a:p>
                      <a:r>
                        <a:rPr lang="en-IN" sz="1000" b="1" dirty="0">
                          <a:solidFill>
                            <a:srgbClr val="0054A6"/>
                          </a:solidFill>
                          <a:latin typeface="Montserrat" panose="00000500000000000000" pitchFamily="2" charset="0"/>
                        </a:rPr>
                        <a:t>Roboto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dirty="0">
                          <a:solidFill>
                            <a:srgbClr val="2A2A28"/>
                          </a:solidFill>
                          <a:latin typeface="Roboto" panose="02000000000000000000" pitchFamily="2" charset="0"/>
                        </a:rPr>
                        <a:t>Continuous transdermal drug delivery matrix designed for active mobility and restorative sleep.
The quick brown fox jumps over the lazy dog • 0123456789 • !@#$%^&amp;*()</a:t>
                      </a:r>
                      <a:endParaRPr lang="en-IN" sz="850" dirty="0">
                        <a:solidFill>
                          <a:srgbClr val="2A2A28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2A2A28"/>
                          </a:solidFill>
                          <a:latin typeface="Montserrat" panose="00000500000000000000" pitchFamily="2" charset="0"/>
                        </a:rPr>
                        <a:t>Canonical Web &amp; E-Commerce Body Copy, Interface UI, Technical Specifications &amp; Claims</a:t>
                      </a:r>
                      <a:endParaRPr lang="en-IN" sz="850" b="0">
                        <a:solidFill>
                          <a:srgbClr val="2A2A28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sz="850" b="1">
                          <a:solidFill>
                            <a:srgbClr val="2A2A28"/>
                          </a:solidFill>
                          <a:latin typeface="Roboto" panose="02000000000000000000" pitchFamily="2" charset="0"/>
                        </a:rPr>
                        <a:t>Regular (400)
Medium (500)
Bold (700)</a:t>
                      </a:r>
                      <a:endParaRPr lang="en-IN" sz="850" b="1">
                        <a:solidFill>
                          <a:srgbClr val="2A2A28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00" u="sng" dirty="0">
                          <a:solidFill>
                            <a:srgbClr val="0054A6"/>
                          </a:solidFill>
                          <a:latin typeface="Roboto" panose="02000000000000000000" pitchFamily="2" charset="0"/>
                        </a:rPr>
                        <a:t>fonts.google.com/specimen/Roboto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5131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F582893-E97A-F05E-98FA-0DDEB42CAF7C}"/>
              </a:ext>
            </a:extLst>
          </p:cNvPr>
          <p:cNvSpPr txBox="1"/>
          <p:nvPr/>
        </p:nvSpPr>
        <p:spPr>
          <a:xfrm>
            <a:off x="550864" y="1520825"/>
            <a:ext cx="914400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Roboto"/>
              </a:defRPr>
            </a:pPr>
            <a:r>
              <a:rPr lang="en-US" sz="950" dirty="0">
                <a:solidFill>
                  <a:srgbClr val="475569"/>
                </a:solidFill>
                <a:latin typeface="Roboto" panose="02000000000000000000" pitchFamily="2" charset="0"/>
              </a:rPr>
              <a:t>Non-exhaustive: corporate presentations, pitch decks, web portals, e-commerce listings, and digital advertising</a:t>
            </a:r>
            <a:endParaRPr lang="en-IN" sz="950" dirty="0">
              <a:solidFill>
                <a:srgbClr val="475569"/>
              </a:solidFill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B46FE-2885-8153-677E-5CFBE2EC5D3C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502920"/>
            <a:ext cx="9144000" cy="822960"/>
          </a:xfrm>
        </p:spPr>
        <p:txBody>
          <a:bodyPr wrap="square"/>
          <a:lstStyle/>
          <a:p>
            <a:r>
              <a:rPr lang="en-IN" dirty="0"/>
              <a:t>2026 Packaging Refresh: TBD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7C4F47-99F3-1459-1BDD-E98E6ED6A4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548640" cy="274320"/>
          </a:xfrm>
        </p:spPr>
        <p:txBody>
          <a:bodyPr anchor="t"/>
          <a:lstStyle/>
          <a:p>
            <a:fld id="{F7021451-1387-4CA6-816F-3879F97B5CBC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D78C68-8F4C-678B-FDDE-BB09DB5EA92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EA59-4517-E9A9-AC2C-186CA0178FAE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 anchor="t"/>
          <a:lstStyle/>
          <a:p>
            <a:r>
              <a:rPr lang="en-IN" sz="2400" b="1" dirty="0">
                <a:solidFill>
                  <a:srgbClr val="FFFFFF"/>
                </a:solidFill>
                <a:latin typeface="Montserrat"/>
              </a:rPr>
              <a:t>Contact for all brand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5411E-54DD-BA3F-6E79-0CC37F828A0F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lang="en-IN" dirty="0"/>
              <a:t>info@unexo.in</a:t>
            </a:r>
          </a:p>
        </p:txBody>
      </p:sp>
      <p:pic>
        <p:nvPicPr>
          <p:cNvPr id="7" name="Picture 6" descr="master_logo_for_dark_bg_with_r.png">
            <a:extLst>
              <a:ext uri="{FF2B5EF4-FFF2-40B4-BE49-F238E27FC236}">
                <a16:creationId xmlns:a16="http://schemas.microsoft.com/office/drawing/2014/main" id="{6C0F5D41-47A4-D7C1-52DE-0D0010802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64" y="467998"/>
            <a:ext cx="4754574" cy="125856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3FD759-1C44-265D-407B-64B7ECE05F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22000" y="6446520"/>
            <a:ext cx="548640" cy="274320"/>
          </a:xfrm>
          <a:prstGeom prst="rect">
            <a:avLst/>
          </a:prstGeom>
        </p:spPr>
        <p:txBody>
          <a:bodyPr anchor="t"/>
          <a:lstStyle/>
          <a:p>
            <a:pPr algn="r"/>
            <a:fld id="{F7021451-1387-4CA6-816F-3879F97B5CBC}" type="slidenum">
              <a:rPr lang="en-US" sz="850" b="0" smtClean="0">
                <a:latin typeface="Montserrat"/>
              </a:rPr>
              <a:t>10</a:t>
            </a:fld>
            <a:endParaRPr lang="en-US" sz="850" b="0">
              <a:solidFill>
                <a:srgbClr val="F2F2F7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65511388"/>
      </p:ext>
    </p:extLst>
  </p:cSld>
  <p:clrMapOvr>
    <a:masterClrMapping/>
  </p:clrMapOvr>
</p:sld>
</file>

<file path=ppt/theme/theme1.xml><?xml version="1.0" encoding="utf-8"?>
<a:theme xmlns:a="http://schemas.openxmlformats.org/drawingml/2006/main" name="Viopatch Brand Design System">
  <a:themeElements>
    <a:clrScheme name="Viopatch Brand Colors">
      <a:dk1>
        <a:srgbClr val="2A2A28"/>
      </a:dk1>
      <a:lt1>
        <a:srgbClr val="FFFFFF"/>
      </a:lt1>
      <a:dk2>
        <a:srgbClr val="475569"/>
      </a:dk2>
      <a:lt2>
        <a:srgbClr val="F2F2F7"/>
      </a:lt2>
      <a:accent1>
        <a:srgbClr val="0054A6"/>
      </a:accent1>
      <a:accent2>
        <a:srgbClr val="FDCD8B"/>
      </a:accent2>
      <a:accent3>
        <a:srgbClr val="379131"/>
      </a:accent3>
      <a:accent4>
        <a:srgbClr val="F26B43"/>
      </a:accent4>
      <a:accent5>
        <a:srgbClr val="0284C7"/>
      </a:accent5>
      <a:accent6>
        <a:srgbClr val="475569"/>
      </a:accent6>
      <a:hlink>
        <a:srgbClr val="0054A6"/>
      </a:hlink>
      <a:folHlink>
        <a:srgbClr val="379131"/>
      </a:folHlink>
    </a:clrScheme>
    <a:fontScheme name="Viopatch Typography">
      <a:majorFont>
        <a:latin typeface="Montserra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AFB2B39-7BDE-4C43-ACC5-AF4FA75ED228}" vid="{046EB536-8269-46C2-9DB2-53F2C30D29D7}"/>
    </a:ext>
  </a:extLst>
</a:theme>
</file>

<file path=ppt/theme/theme2.xml><?xml version="1.0" encoding="utf-8"?>
<a:theme xmlns:a="http://schemas.openxmlformats.org/drawingml/2006/main" name="Office Theme">
  <a:themeElements>
    <a:clrScheme name="Viopatch Brand Colors">
      <a:dk1>
        <a:srgbClr val="2A2A28"/>
      </a:dk1>
      <a:lt1>
        <a:srgbClr val="FFFFFF"/>
      </a:lt1>
      <a:dk2>
        <a:srgbClr val="475569"/>
      </a:dk2>
      <a:lt2>
        <a:srgbClr val="F2F2F7"/>
      </a:lt2>
      <a:accent1>
        <a:srgbClr val="0054A6"/>
      </a:accent1>
      <a:accent2>
        <a:srgbClr val="FDCD8B"/>
      </a:accent2>
      <a:accent3>
        <a:srgbClr val="379131"/>
      </a:accent3>
      <a:accent4>
        <a:srgbClr val="F26B43"/>
      </a:accent4>
      <a:accent5>
        <a:srgbClr val="0284C7"/>
      </a:accent5>
      <a:accent6>
        <a:srgbClr val="475569"/>
      </a:accent6>
      <a:hlink>
        <a:srgbClr val="0054A6"/>
      </a:hlink>
      <a:folHlink>
        <a:srgbClr val="37913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1529</Words>
  <Application>Microsoft Office PowerPoint</Application>
  <PresentationFormat>Widescreen</PresentationFormat>
  <Paragraphs>202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Barlow Condensed</vt:lpstr>
      <vt:lpstr>Montserrat</vt:lpstr>
      <vt:lpstr>Roboto</vt:lpstr>
      <vt:lpstr>Viopatch Brand Design System</vt:lpstr>
      <vt:lpstr>Brand Style Guide</vt:lpstr>
      <vt:lpstr>Viopatch Brand Value Ladder &amp; Thematic Matrix</vt:lpstr>
      <vt:lpstr>Standardized logo across communication channels</vt:lpstr>
      <vt:lpstr>Use only approved logo from authorized source; agency redrawing is prohibited</vt:lpstr>
      <vt:lpstr>Incorrect usage of Viopatch brand</vt:lpstr>
      <vt:lpstr>Use only approved brand color palette across communication channels</vt:lpstr>
      <vt:lpstr>Typography: Industrial Print Packaging</vt:lpstr>
      <vt:lpstr>Typography: Digital, Web &amp; Marketing</vt:lpstr>
      <vt:lpstr>2026 Packaging Refresh: TBD</vt:lpstr>
      <vt:lpstr>Contact for all brand queries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Personal branding presentation template (Apple HIG, light mode)</dc:subject>
  <dc:creator>Kanishka Mohan</dc:creator>
  <cp:lastModifiedBy>Kanishka Mohan</cp:lastModifiedBy>
  <cp:revision>28</cp:revision>
  <dcterms:created xsi:type="dcterms:W3CDTF">2026-08-15T17:16:28Z</dcterms:created>
  <dcterms:modified xsi:type="dcterms:W3CDTF">2026-09-11T13:21:17Z</dcterms:modified>
</cp:coreProperties>
</file>